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864" y="-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8/28/2026</a:t>
            </a:fld>
            <a:endParaRPr lang="en-US"/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/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3237874" y="648615"/>
            <a:ext cx="6542212" cy="790442"/>
          </a:xfrm>
        </p:spPr>
        <p:txBody>
          <a:bodyPr/>
          <a:p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b="1" dirty="0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2743199" y="0"/>
            <a:ext cx="7552185" cy="998065"/>
          </a:xfrm>
        </p:spPr>
        <p:txBody>
          <a:bodyPr/>
          <a:p>
            <a:r>
              <a:rPr b="1" dirty="0" sz="3200" lang="en-US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b="1" dirty="0" sz="32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b="1" dirty="0" sz="3200" lang="en-IN">
              <a:solidFill>
                <a:srgbClr val="7030A0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331286" y="2076450"/>
            <a:ext cx="5924550" cy="4625340"/>
          </a:xfrm>
          <a:prstGeom prst="rect"/>
          <a:noFill/>
        </p:spPr>
        <p:txBody>
          <a:bodyPr rtlCol="0" wrap="square">
            <a:spAutoFit/>
          </a:bodyPr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Problem Statement ID – </a:t>
            </a:r>
            <a:r>
              <a:rPr b="1" sz="1100">
                <a:solidFill>
                  <a:srgbClr val="0F172A"/>
                </a:solidFill>
              </a:rPr>
              <a:t>SIH26086</a:t>
            </a:r>
            <a:endParaRPr dirty="0" lang="en-US"/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Problem Statement Title- </a:t>
            </a:r>
            <a:r>
              <a:rPr b="0" sz="1100">
                <a:solidFill>
                  <a:srgbClr val="0F172A"/>
                </a:solidFill>
              </a:rPr>
              <a:t>Hyperlocal Monsoon Onset &amp; Break Prediction System (Block/Village Scale)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Theme- </a:t>
            </a:r>
            <a:r>
              <a:rPr b="0" sz="1100">
                <a:solidFill>
                  <a:srgbClr val="0F172A"/>
                </a:solidFill>
              </a:rPr>
              <a:t>Agriculture, FoodTech &amp; Rural Development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PS Category- </a:t>
            </a:r>
            <a:r>
              <a:rPr b="0" sz="110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Team ID- </a:t>
            </a:r>
            <a:r>
              <a:rPr b="1" sz="1100">
                <a:solidFill>
                  <a:srgbClr val="0F172A"/>
                </a:solidFill>
              </a:rPr>
              <a:t>120087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Team Name- </a:t>
            </a:r>
            <a:r>
              <a:rPr b="1" sz="1100">
                <a:solidFill>
                  <a:srgbClr val="0F172A"/>
                </a:solidFill>
              </a:rPr>
              <a:t>TITANS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Idea Title- </a:t>
            </a:r>
            <a:r>
              <a:rPr b="1" sz="1100">
                <a:solidFill>
                  <a:srgbClr val="0F172A"/>
                </a:solidFill>
              </a:rPr>
              <a:t>VARSHASETU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Technical Subtitle- </a:t>
            </a:r>
            <a:r>
              <a:rPr b="0" sz="1100">
                <a:solidFill>
                  <a:srgbClr val="0F172A"/>
                </a:solidFill>
              </a:rPr>
              <a:t>Hyperlocal Monsoon Onset, Break &amp; Agricultural Advisory System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Tagline- </a:t>
            </a:r>
            <a:r>
              <a:rPr b="0" sz="1100">
                <a:solidFill>
                  <a:srgbClr val="0F172A"/>
                </a:solidFill>
              </a:rPr>
              <a:t>“Bridging Climate Intelligence with Every Farmer”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Ministry / Ref Org- </a:t>
            </a:r>
            <a:r>
              <a:rPr b="0" sz="1100">
                <a:solidFill>
                  <a:srgbClr val="0F172A"/>
                </a:solidFill>
              </a:rPr>
              <a:t>Ministry of Earth Sciences (MoES) | NCMRWF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070C0"/>
                </a:solidFill>
              </a:rPr>
              <a:t>• College / Institute- </a:t>
            </a:r>
            <a:r>
              <a:rPr b="0" sz="1100">
                <a:solidFill>
                  <a:srgbClr val="0F172A"/>
                </a:solidFill>
              </a:rPr>
              <a:t>MVGR College of Engineering (Autonomous), Vizianagaram, AP</a:t>
            </a:r>
          </a:p>
        </p:txBody>
      </p:sp>
      <p:pic>
        <p:nvPicPr>
          <p:cNvPr id="2097153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780086" y="-64272"/>
            <a:ext cx="2249850" cy="1062337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p>
            <a:pPr eaLnBrk="1" hangingPunct="1" algn="ctr"/>
            <a:r>
              <a:rPr b="1" sz="1800">
                <a:solidFill>
                  <a:srgbClr val="0F2E5A"/>
                </a:solidFill>
              </a:rPr>
              <a:t>VARSHASETU: Hyperlocal Monsoon Onset, Break &amp; Agricultural Advisory System</a:t>
            </a: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409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indent="-342900" marL="342900">
              <a:buFont typeface="Wingdings" panose="05000000000000000000" pitchFamily="2" charset="2"/>
              <a:buChar char="v"/>
            </a:pPr>
            <a:r>
              <a:rPr b="1" dirty="0" sz="3200" lang="en-US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dirty="0" sz="32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070C0"/>
                </a:solidFill>
              </a:rPr>
              <a:t>TITANS</a:t>
            </a:r>
            <a:endParaRPr dirty="0" lang="en-IN"/>
          </a:p>
        </p:txBody>
      </p:sp>
      <p:pic>
        <p:nvPicPr>
          <p:cNvPr id="2097155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pic>
        <p:nvPicPr>
          <p:cNvPr id="2097156" name="Picture 2097155" descr="status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3840480"/>
            <a:ext cx="4206240" cy="1713318"/>
          </a:xfrm>
          <a:prstGeom prst="rect">
            <a:avLst/>
          </a:prstGeom>
        </p:spPr>
      </p:pic>
      <p:sp>
        <p:nvSpPr>
          <p:cNvPr id="2097157" name="TextBox 2097156"/>
          <p:cNvSpPr txBox="1"/>
          <p:nvPr/>
        </p:nvSpPr>
        <p:spPr>
          <a:xfrm>
            <a:off x="7498079" y="54864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i="1">
                <a:solidFill>
                  <a:srgbClr val="64748B"/>
                </a:solidFill>
              </a:rPr>
              <a:t>Live Dharmasagar Catchment Status: Onset MET, Active 74%, Break 18%.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 algn="ctr"/>
            <a:r>
              <a:rPr b="1" sz="1800">
                <a:solidFill>
                  <a:srgbClr val="0F2E5A"/>
                </a:solidFill>
              </a:rPr>
              <a:t>TECHNICAL APPROACH</a:t>
            </a:r>
          </a:p>
        </p:txBody>
      </p:sp>
      <p:sp>
        <p:nvSpPr>
          <p:cNvPr id="1048607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7678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070C0"/>
                </a:solidFill>
              </a:rPr>
              <a:t>TITANS</a:t>
            </a:r>
            <a:endParaRPr dirty="0" lang="en-IN"/>
          </a:p>
        </p:txBody>
      </p:sp>
      <p:pic>
        <p:nvPicPr>
          <p:cNvPr id="2097156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pic>
        <p:nvPicPr>
          <p:cNvPr id="2097157" name="Picture 2097156" descr="risk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474720"/>
            <a:ext cx="4754880" cy="1895803"/>
          </a:xfrm>
          <a:prstGeom prst="rect">
            <a:avLst/>
          </a:prstGeom>
        </p:spPr>
      </p:pic>
      <p:sp>
        <p:nvSpPr>
          <p:cNvPr id="2097158" name="TextBox 2097157"/>
          <p:cNvSpPr txBox="1"/>
          <p:nvPr/>
        </p:nvSpPr>
        <p:spPr>
          <a:xfrm>
            <a:off x="6858000" y="5440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Notice: Demonstration boundaries — approximate visualization, not official administrative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 algn="ctr"/>
            <a:r>
              <a:rPr b="1" sz="1800">
                <a:solidFill>
                  <a:srgbClr val="0F2E5A"/>
                </a:solidFill>
              </a:rPr>
              <a:t>FEASIBILITY AND VIABILITY</a:t>
            </a:r>
          </a:p>
        </p:txBody>
      </p:sp>
      <p:sp>
        <p:nvSpPr>
          <p:cNvPr id="1048616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487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070C0"/>
                </a:solidFill>
              </a:rPr>
              <a:t>TITANS</a:t>
            </a:r>
            <a:endParaRPr dirty="0" lang="en-IN"/>
          </a:p>
        </p:txBody>
      </p:sp>
      <p:pic>
        <p:nvPicPr>
          <p:cNvPr id="2097157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 algn="ctr"/>
            <a:r>
              <a:rPr b="1" sz="1800">
                <a:solidFill>
                  <a:srgbClr val="0F2E5A"/>
                </a:solidFill>
              </a:rPr>
              <a:t>IMPACT AND BENEFITS</a:t>
            </a:r>
          </a:p>
        </p:txBody>
      </p:sp>
      <p:sp>
        <p:nvSpPr>
          <p:cNvPr id="1048625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487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070C0"/>
                </a:solidFill>
              </a:rPr>
              <a:t>TITANS</a:t>
            </a:r>
            <a:endParaRPr dirty="0" lang="en-IN"/>
          </a:p>
        </p:txBody>
      </p:sp>
      <p:pic>
        <p:nvPicPr>
          <p:cNvPr id="209715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 algn="ctr"/>
            <a:r>
              <a:rPr b="1" sz="1800">
                <a:solidFill>
                  <a:srgbClr val="0F2E5A"/>
                </a:solidFill>
              </a:rPr>
              <a:t>RESEARCH AND REFERENCES</a:t>
            </a:r>
          </a:p>
        </p:txBody>
      </p:sp>
      <p:sp>
        <p:nvSpPr>
          <p:cNvPr id="1048634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070C0"/>
                </a:solidFill>
              </a:rPr>
              <a:t>TITANS</a:t>
            </a:r>
            <a:endParaRPr dirty="0" lang="en-IN"/>
          </a:p>
        </p:txBody>
      </p:sp>
      <p:pic>
        <p:nvPicPr>
          <p:cNvPr id="2097159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Windows User</cp:lastModifiedBy>
  <dcterms:created xsi:type="dcterms:W3CDTF">2013-12-12T07:46:50Z</dcterms:created>
  <dcterms:modified xsi:type="dcterms:W3CDTF">2026-10-02T18:58:27Z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bd807b000c6a49728b62bd03dc016c86_23</vt:lpwstr>
  </property>
</Properties>
</file>