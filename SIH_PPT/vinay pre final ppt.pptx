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1pPr>
    <a:lvl2pPr indent="2286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2pPr>
    <a:lvl3pPr indent="4572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3pPr>
    <a:lvl4pPr indent="6858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4pPr>
    <a:lvl5pPr indent="9144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914400" y="2130427"/>
            <a:ext cx="10363200" cy="147002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963084" y="4406903"/>
            <a:ext cx="10363201" cy="1362076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609601" y="273050"/>
            <a:ext cx="401108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609601" y="1435103"/>
            <a:ext cx="401108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nwp.ncmrwf.gov.in/" TargetMode="External"/><Relationship Id="rId4" Type="http://schemas.openxmlformats.org/officeDocument/2006/relationships/hyperlink" Target="https://mausam.imd.gov.in/responsive/monsooninformation_onset.php?utm_source" TargetMode="External"/><Relationship Id="rId5" Type="http://schemas.openxmlformats.org/officeDocument/2006/relationships/hyperlink" Target="https://www.cpc.ncep.noaa.gov/products/analysis_monitoring/enso_advisory/?utm_source" TargetMode="External"/><Relationship Id="rId6" Type="http://schemas.openxmlformats.org/officeDocument/2006/relationships/hyperlink" Target="https://www.bom.gov.au/climate/iod/?utm_source" TargetMode="External"/><Relationship Id="rId7" Type="http://schemas.openxmlformats.org/officeDocument/2006/relationships/hyperlink" Target="https://www.cpc.ncep.noaa.gov/products/precip/CWlink/MJO/mjo.shtml?utm_source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Freeform: Shape 26"/>
          <p:cNvSpPr/>
          <p:nvPr/>
        </p:nvSpPr>
        <p:spPr>
          <a:xfrm>
            <a:off x="6771365" y="1084687"/>
            <a:ext cx="4638606" cy="5154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fill="norm" stroke="1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0" t="0" r="59916" b="0"/>
          <a:stretch>
            <a:fillRect/>
          </a:stretch>
        </p:blipFill>
        <p:spPr>
          <a:xfrm>
            <a:off x="7989030" y="2146071"/>
            <a:ext cx="3203510" cy="3426238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Subtitle 3"/>
          <p:cNvSpPr txBox="1"/>
          <p:nvPr>
            <p:ph type="subTitle" sz="quarter" idx="1"/>
          </p:nvPr>
        </p:nvSpPr>
        <p:spPr>
          <a:xfrm>
            <a:off x="2623191" y="-61790"/>
            <a:ext cx="6542213" cy="955842"/>
          </a:xfrm>
          <a:prstGeom prst="rect">
            <a:avLst/>
          </a:prstGeom>
        </p:spPr>
        <p:txBody>
          <a:bodyPr/>
          <a:lstStyle/>
          <a:p>
            <a:pPr>
              <a:defRPr b="1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 b="1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TITLE PAGE</a:t>
            </a:r>
          </a:p>
        </p:txBody>
      </p:sp>
      <p:sp>
        <p:nvSpPr>
          <p:cNvPr id="98" name="Title 7"/>
          <p:cNvSpPr txBox="1"/>
          <p:nvPr>
            <p:ph type="ctrTitle"/>
          </p:nvPr>
        </p:nvSpPr>
        <p:spPr>
          <a:xfrm>
            <a:off x="1235674" y="-137280"/>
            <a:ext cx="9720652" cy="739272"/>
          </a:xfrm>
          <a:prstGeom prst="rect">
            <a:avLst/>
          </a:prstGeom>
        </p:spPr>
        <p:txBody>
          <a:bodyPr/>
          <a:lstStyle>
            <a:lvl1pPr>
              <a:defRPr b="1" sz="3500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SMART INDIA HACKATHON 2026</a:t>
            </a:r>
          </a:p>
        </p:txBody>
      </p:sp>
      <p:pic>
        <p:nvPicPr>
          <p:cNvPr id="99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80085" y="33498"/>
            <a:ext cx="2249852" cy="10623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2" name="Rounded Rectangle 2097153"/>
          <p:cNvGrpSpPr/>
          <p:nvPr/>
        </p:nvGrpSpPr>
        <p:grpSpPr>
          <a:xfrm>
            <a:off x="183826" y="3772205"/>
            <a:ext cx="6126481" cy="1145715"/>
            <a:chOff x="0" y="0"/>
            <a:chExt cx="6126479" cy="1145713"/>
          </a:xfrm>
        </p:grpSpPr>
        <p:sp>
          <p:nvSpPr>
            <p:cNvPr id="100" name="Rounded Rectangle"/>
            <p:cNvSpPr/>
            <p:nvPr/>
          </p:nvSpPr>
          <p:spPr>
            <a:xfrm>
              <a:off x="0" y="1356"/>
              <a:ext cx="6126480" cy="1143001"/>
            </a:xfrm>
            <a:prstGeom prst="roundRect">
              <a:avLst>
                <a:gd name="adj" fmla="val 16667"/>
              </a:avLst>
            </a:prstGeom>
            <a:solidFill>
              <a:srgbClr val="EEF2FF"/>
            </a:solidFill>
            <a:ln w="19050" cap="flat">
              <a:solidFill>
                <a:srgbClr val="C7D2FE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1" name="VARSHASETU…"/>
            <p:cNvSpPr txBox="1"/>
            <p:nvPr/>
          </p:nvSpPr>
          <p:spPr>
            <a:xfrm>
              <a:off x="111042" y="0"/>
              <a:ext cx="5904396" cy="1145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2100">
                  <a:solidFill>
                    <a:srgbClr val="1D4ED8"/>
                  </a:solidFill>
                </a:defRPr>
              </a:pPr>
              <a:r>
                <a:t>VARSHASETU</a:t>
              </a:r>
            </a:p>
            <a:p>
              <a:pPr algn="ctr">
                <a:defRPr b="1" sz="2100">
                  <a:solidFill>
                    <a:srgbClr val="1D4ED8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b="1" sz="900">
                  <a:solidFill>
                    <a:srgbClr val="0F172A"/>
                  </a:solidFill>
                </a:defRPr>
              </a:pPr>
              <a:r>
                <a:t>Hyperlocal Monsoon Onset, Break &amp; Agricultural Advisory System</a:t>
              </a:r>
            </a:p>
            <a:p>
              <a:pPr>
                <a:defRPr b="1" sz="900">
                  <a:solidFill>
                    <a:srgbClr val="0F172A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b="1" i="1" sz="900">
                  <a:solidFill>
                    <a:srgbClr val="0284C7"/>
                  </a:solidFill>
                </a:defRPr>
              </a:pPr>
              <a:r>
                <a:t>“Bridging Climate Intelligence with Every Farmer”</a:t>
              </a:r>
            </a:p>
          </p:txBody>
        </p:sp>
      </p:grpSp>
      <p:grpSp>
        <p:nvGrpSpPr>
          <p:cNvPr id="105" name="Rounded Rectangle 2097154"/>
          <p:cNvGrpSpPr/>
          <p:nvPr/>
        </p:nvGrpSpPr>
        <p:grpSpPr>
          <a:xfrm>
            <a:off x="183826" y="880622"/>
            <a:ext cx="6126481" cy="2781550"/>
            <a:chOff x="0" y="0"/>
            <a:chExt cx="6126479" cy="2781548"/>
          </a:xfrm>
        </p:grpSpPr>
        <p:sp>
          <p:nvSpPr>
            <p:cNvPr id="103" name="Rounded Rectangle"/>
            <p:cNvSpPr/>
            <p:nvPr/>
          </p:nvSpPr>
          <p:spPr>
            <a:xfrm>
              <a:off x="0" y="0"/>
              <a:ext cx="6126480" cy="2781549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1524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4" name="Problem Statement ID: SIH26086…"/>
            <p:cNvSpPr txBox="1"/>
            <p:nvPr/>
          </p:nvSpPr>
          <p:spPr>
            <a:xfrm>
              <a:off x="349990" y="148319"/>
              <a:ext cx="5169027" cy="2484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200"/>
                </a:spcBef>
                <a:defRPr b="1" sz="1400">
                  <a:solidFill>
                    <a:srgbClr val="0F172A"/>
                  </a:solidFill>
                </a:defRPr>
              </a:pPr>
              <a:r>
                <a:rPr sz="1500"/>
                <a:t>Problem Statement ID:</a:t>
              </a:r>
              <a:r>
                <a:t> </a:t>
              </a:r>
              <a:r>
                <a:rPr>
                  <a:solidFill>
                    <a:srgbClr val="EA703A"/>
                  </a:solidFill>
                </a:rPr>
                <a:t>SIH26086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b="1" sz="1400">
                  <a:solidFill>
                    <a:srgbClr val="0F172A"/>
                  </a:solidFill>
                </a:defRPr>
              </a:pPr>
              <a:r>
                <a:rPr sz="1500"/>
                <a:t>Problem Title: </a:t>
              </a:r>
              <a:r>
                <a:rPr b="0" i="1">
                  <a:solidFill>
                    <a:srgbClr val="1247D8"/>
                  </a:solidFill>
                </a:rPr>
                <a:t>Hyperlocal Monsoon Onset &amp; Break Prediction System</a:t>
              </a:r>
              <a:endParaRPr b="0" i="1"/>
            </a:p>
            <a:p>
              <a:pPr>
                <a:spcBef>
                  <a:spcPts val="200"/>
                </a:spcBef>
                <a:defRPr b="1" sz="1400">
                  <a:solidFill>
                    <a:srgbClr val="0F172A"/>
                  </a:solidFill>
                </a:defRPr>
              </a:pPr>
              <a:r>
                <a:rPr sz="1500"/>
                <a:t>Theme:</a:t>
              </a:r>
              <a:r>
                <a:t> </a:t>
              </a:r>
              <a:r>
                <a:rPr b="0">
                  <a:solidFill>
                    <a:srgbClr val="000000"/>
                  </a:solidFill>
                </a:rPr>
                <a:t>Agriculture, FoodTech &amp; Rural Development </a:t>
              </a:r>
              <a:endParaRPr b="0">
                <a:solidFill>
                  <a:srgbClr val="000000"/>
                </a:solidFill>
              </a:endParaRPr>
            </a:p>
            <a:p>
              <a:pPr>
                <a:spcBef>
                  <a:spcPts val="200"/>
                </a:spcBef>
                <a:defRPr b="1" sz="1400">
                  <a:solidFill>
                    <a:srgbClr val="0F172A"/>
                  </a:solidFill>
                </a:defRPr>
              </a:pPr>
              <a:r>
                <a:rPr sz="1500">
                  <a:solidFill>
                    <a:srgbClr val="334155"/>
                  </a:solidFill>
                </a:rPr>
                <a:t>Category</a:t>
              </a:r>
              <a:r>
                <a:rPr b="0" sz="1500">
                  <a:solidFill>
                    <a:srgbClr val="334155"/>
                  </a:solidFill>
                </a:rPr>
                <a:t>:</a:t>
              </a:r>
              <a:r>
                <a:t> </a:t>
              </a:r>
              <a:r>
                <a:rPr b="0">
                  <a:solidFill>
                    <a:srgbClr val="000000"/>
                  </a:solidFill>
                </a:rPr>
                <a:t>Software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200"/>
                </a:spcBef>
                <a:defRPr b="1" sz="1400">
                  <a:solidFill>
                    <a:srgbClr val="0F172A"/>
                  </a:solidFill>
                </a:defRPr>
              </a:pPr>
              <a:r>
                <a:rPr sz="1500"/>
                <a:t>Team ID:</a:t>
              </a:r>
              <a:r>
                <a:t> </a:t>
              </a:r>
              <a:r>
                <a:rPr>
                  <a:solidFill>
                    <a:srgbClr val="EA580C"/>
                  </a:solidFill>
                </a:rPr>
                <a:t>120087 </a:t>
              </a:r>
              <a:endParaRPr>
                <a:solidFill>
                  <a:srgbClr val="EA580C"/>
                </a:solidFill>
              </a:endParaRPr>
            </a:p>
            <a:p>
              <a:pPr>
                <a:spcBef>
                  <a:spcPts val="200"/>
                </a:spcBef>
                <a:defRPr b="1" sz="1400">
                  <a:solidFill>
                    <a:srgbClr val="0F172A"/>
                  </a:solidFill>
                </a:defRPr>
              </a:pPr>
              <a:r>
                <a:rPr sz="1500"/>
                <a:t>TeamName:</a:t>
              </a:r>
              <a:r>
                <a:t> </a:t>
              </a:r>
              <a:r>
                <a:rPr>
                  <a:solidFill>
                    <a:srgbClr val="EA580C"/>
                  </a:solidFill>
                </a:rPr>
                <a:t>TITANS</a:t>
              </a:r>
              <a:endParaRPr>
                <a:solidFill>
                  <a:srgbClr val="EA580C"/>
                </a:solidFill>
              </a:endParaRPr>
            </a:p>
            <a:p>
              <a:pPr>
                <a:spcBef>
                  <a:spcPts val="200"/>
                </a:spcBef>
                <a:defRPr b="1" sz="1400">
                  <a:solidFill>
                    <a:srgbClr val="0F172A"/>
                  </a:solidFill>
                </a:defRPr>
              </a:pPr>
              <a:r>
                <a:t>Ministry / Org: </a:t>
              </a:r>
              <a:r>
                <a:rPr b="0"/>
                <a:t>Ministry of Earth Sciences (MoES) | NCMRWF</a:t>
              </a:r>
            </a:p>
          </p:txBody>
        </p:sp>
      </p:grpSp>
      <p:grpSp>
        <p:nvGrpSpPr>
          <p:cNvPr id="108" name="Rounded Rectangle 2097155"/>
          <p:cNvGrpSpPr/>
          <p:nvPr/>
        </p:nvGrpSpPr>
        <p:grpSpPr>
          <a:xfrm>
            <a:off x="183826" y="5031443"/>
            <a:ext cx="6126481" cy="1554481"/>
            <a:chOff x="0" y="0"/>
            <a:chExt cx="6126479" cy="1554480"/>
          </a:xfrm>
        </p:grpSpPr>
        <p:sp>
          <p:nvSpPr>
            <p:cNvPr id="106" name="Rounded Rectangle"/>
            <p:cNvSpPr/>
            <p:nvPr/>
          </p:nvSpPr>
          <p:spPr>
            <a:xfrm>
              <a:off x="0" y="0"/>
              <a:ext cx="6126480" cy="15544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524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7" name="DECISION CONTINUUM: “From climate signals to field-level decisions.”…"/>
            <p:cNvSpPr txBox="1"/>
            <p:nvPr/>
          </p:nvSpPr>
          <p:spPr>
            <a:xfrm>
              <a:off x="129223" y="303180"/>
              <a:ext cx="5868034" cy="9481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900">
                  <a:solidFill>
                    <a:srgbClr val="0284C7"/>
                  </a:solidFill>
                </a:defRPr>
              </a:pPr>
              <a:r>
                <a:t>DECISION CONTINUUM: </a:t>
              </a:r>
              <a:r>
                <a:rPr i="1">
                  <a:solidFill>
                    <a:srgbClr val="1D4ED8"/>
                  </a:solidFill>
                </a:rPr>
                <a:t>“From climate signals to field-level decisions.”</a:t>
              </a:r>
              <a:endParaRPr i="1">
                <a:solidFill>
                  <a:srgbClr val="1D4ED8"/>
                </a:solidFill>
              </a:endParaRPr>
            </a:p>
            <a:p>
              <a:pPr algn="ctr">
                <a:defRPr b="1" sz="900">
                  <a:solidFill>
                    <a:srgbClr val="0284C7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b="1" sz="900">
                  <a:solidFill>
                    <a:srgbClr val="1D4ED8"/>
                  </a:solidFill>
                </a:defRPr>
              </a:pPr>
              <a:r>
                <a:t>• 1. Climate Signals: </a:t>
              </a:r>
              <a:r>
                <a:rPr b="0">
                  <a:solidFill>
                    <a:srgbClr val="334155"/>
                  </a:solidFill>
                </a:rPr>
                <a:t>ENSO (NOAA CPC) | IOD (DMI) | MJO (RMM)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b="1" sz="900">
                  <a:solidFill>
                    <a:srgbClr val="0F172A"/>
                  </a:solidFill>
                </a:defRPr>
              </a:pPr>
              <a:r>
                <a:t>• 2. Regional Weather: </a:t>
              </a:r>
              <a:r>
                <a:rPr b="0">
                  <a:solidFill>
                    <a:srgbClr val="334155"/>
                  </a:solidFill>
                </a:rPr>
                <a:t>NASA POWER + Tenali Catchment Daily Data (2015-2025)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b="1" sz="900">
                  <a:solidFill>
                    <a:srgbClr val="0284C7"/>
                  </a:solidFill>
                </a:defRPr>
              </a:pPr>
              <a:r>
                <a:t>• 3. AI Forecast: </a:t>
              </a:r>
              <a:r>
                <a:rPr b="0">
                  <a:solidFill>
                    <a:srgbClr val="334155"/>
                  </a:solidFill>
                </a:rPr>
                <a:t>7, 14, 21, 30-Day Probabilistic S2S Outlooks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b="1" sz="900">
                  <a:solidFill>
                    <a:srgbClr val="D97706"/>
                  </a:solidFill>
                </a:defRPr>
              </a:pPr>
              <a:r>
                <a:t>• 4. Decision Support: </a:t>
              </a:r>
              <a:r>
                <a:rPr b="0">
                  <a:solidFill>
                    <a:srgbClr val="334155"/>
                  </a:solidFill>
                </a:rPr>
                <a:t>Onset (MET) | Active Spells | Break Risk (&gt;7d Dry Runs)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b="1" sz="900">
                  <a:solidFill>
                    <a:srgbClr val="10A34A"/>
                  </a:solidFill>
                </a:defRPr>
              </a:pPr>
              <a:r>
                <a:t>• 5. Farmer Action: </a:t>
              </a:r>
              <a:r>
                <a:rPr b="0">
                  <a:solidFill>
                    <a:srgbClr val="334155"/>
                  </a:solidFill>
                </a:rPr>
                <a:t>ICAR-CRIDA Crop Sowing, Irrigation &amp; Contingency Directives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11" name="Rectangle 8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400"/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12" name="Title 1"/>
          <p:cNvSpPr txBox="1"/>
          <p:nvPr>
            <p:ph type="title"/>
          </p:nvPr>
        </p:nvSpPr>
        <p:spPr>
          <a:xfrm>
            <a:off x="1691639" y="109728"/>
            <a:ext cx="8001001" cy="777241"/>
          </a:xfrm>
          <a:prstGeom prst="rect">
            <a:avLst/>
          </a:prstGeom>
        </p:spPr>
        <p:txBody>
          <a:bodyPr/>
          <a:lstStyle>
            <a:lvl1pPr algn="l">
              <a:defRPr b="1" sz="2000">
                <a:solidFill>
                  <a:srgbClr val="0F172A"/>
                </a:solidFill>
              </a:defRPr>
            </a:lvl1pPr>
          </a:lstStyle>
          <a:p>
            <a:pPr/>
            <a:r>
              <a:t>VARSHASETU: Hyperlocal Monsoon Onset, Break &amp; Agricultural Advisory System</a:t>
            </a:r>
          </a:p>
        </p:txBody>
      </p:sp>
      <p:sp>
        <p:nvSpPr>
          <p:cNvPr id="113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16" name="Oval 9"/>
          <p:cNvGrpSpPr/>
          <p:nvPr/>
        </p:nvGrpSpPr>
        <p:grpSpPr>
          <a:xfrm>
            <a:off x="329772" y="252245"/>
            <a:ext cx="1251859" cy="807335"/>
            <a:chOff x="0" y="0"/>
            <a:chExt cx="1251857" cy="807334"/>
          </a:xfrm>
        </p:grpSpPr>
        <p:sp>
          <p:nvSpPr>
            <p:cNvPr id="114" name="Oval"/>
            <p:cNvSpPr/>
            <p:nvPr/>
          </p:nvSpPr>
          <p:spPr>
            <a:xfrm>
              <a:off x="0" y="-1"/>
              <a:ext cx="1251858" cy="807336"/>
            </a:xfrm>
            <a:prstGeom prst="ellipse">
              <a:avLst/>
            </a:prstGeom>
            <a:solidFill>
              <a:srgbClr val="FFFFFF"/>
            </a:solidFill>
            <a:ln w="19050" cap="flat">
              <a:solidFill>
                <a:srgbClr val="0B6B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15" name="TITANS"/>
            <p:cNvSpPr txBox="1"/>
            <p:nvPr/>
          </p:nvSpPr>
          <p:spPr>
            <a:xfrm>
              <a:off x="238574" y="274566"/>
              <a:ext cx="774708" cy="258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0B6BBA"/>
                  </a:solidFill>
                </a:defRPr>
              </a:lvl1pPr>
            </a:lstStyle>
            <a:p>
              <a:pPr/>
              <a:r>
                <a:t>TITANS</a:t>
              </a:r>
            </a:p>
          </p:txBody>
        </p:sp>
      </p:grpSp>
      <p:pic>
        <p:nvPicPr>
          <p:cNvPr id="117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02098" y="1500"/>
            <a:ext cx="2005826" cy="947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0" name="Rounded Rectangle 2097155"/>
          <p:cNvGrpSpPr/>
          <p:nvPr/>
        </p:nvGrpSpPr>
        <p:grpSpPr>
          <a:xfrm>
            <a:off x="1407428" y="961138"/>
            <a:ext cx="10437879" cy="307743"/>
            <a:chOff x="0" y="0"/>
            <a:chExt cx="10437878" cy="307742"/>
          </a:xfrm>
        </p:grpSpPr>
        <p:sp>
          <p:nvSpPr>
            <p:cNvPr id="118" name="Rounded Rectangle"/>
            <p:cNvSpPr/>
            <p:nvPr/>
          </p:nvSpPr>
          <p:spPr>
            <a:xfrm>
              <a:off x="0" y="1714"/>
              <a:ext cx="10394167" cy="306029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12700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9" name="❖ Proposed Solution (Describe your Idea/Solution/Prototype)  • Detailed Explanation  • How It Addresses The Problem  • Innovation &amp; Uniqueness"/>
            <p:cNvSpPr txBox="1"/>
            <p:nvPr/>
          </p:nvSpPr>
          <p:spPr>
            <a:xfrm>
              <a:off x="613597" y="0"/>
              <a:ext cx="9824282" cy="2572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>
                <a:defRPr sz="800">
                  <a:solidFill>
                    <a:srgbClr val="334155"/>
                  </a:solidFill>
                  <a:latin typeface="Arial Black"/>
                  <a:ea typeface="Arial Black"/>
                  <a:cs typeface="Arial Black"/>
                  <a:sym typeface="Arial Black"/>
                </a:defRPr>
              </a:lvl1pPr>
            </a:lstStyle>
            <a:p>
              <a:pPr/>
              <a:r>
                <a:t>  ❖ Proposed Solution (Describe your Idea/Solution/Prototype)  • Detailed Explanation  • How It Addresses The Problem  • Innovation &amp; Uniqueness</a:t>
              </a:r>
            </a:p>
          </p:txBody>
        </p:sp>
      </p:grpSp>
      <p:grpSp>
        <p:nvGrpSpPr>
          <p:cNvPr id="123" name="Rounded Rectangle 2097156"/>
          <p:cNvGrpSpPr/>
          <p:nvPr/>
        </p:nvGrpSpPr>
        <p:grpSpPr>
          <a:xfrm>
            <a:off x="365759" y="1316736"/>
            <a:ext cx="11457433" cy="347473"/>
            <a:chOff x="0" y="0"/>
            <a:chExt cx="11457431" cy="347472"/>
          </a:xfrm>
        </p:grpSpPr>
        <p:sp>
          <p:nvSpPr>
            <p:cNvPr id="121" name="Rounded Rectangle"/>
            <p:cNvSpPr/>
            <p:nvPr/>
          </p:nvSpPr>
          <p:spPr>
            <a:xfrm>
              <a:off x="0" y="0"/>
              <a:ext cx="11457432" cy="347473"/>
            </a:xfrm>
            <a:prstGeom prst="roundRect">
              <a:avLst>
                <a:gd name="adj" fmla="val 16667"/>
              </a:avLst>
            </a:prstGeom>
            <a:solidFill>
              <a:srgbClr val="0F172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2" name="“From predicting rainfall to translating uncertainty into agricultural decisions.”"/>
            <p:cNvSpPr txBox="1"/>
            <p:nvPr/>
          </p:nvSpPr>
          <p:spPr>
            <a:xfrm>
              <a:off x="62681" y="60882"/>
              <a:ext cx="11332069" cy="225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</a:defRPr>
              </a:lvl1pPr>
            </a:lstStyle>
            <a:p>
              <a:pPr/>
              <a:r>
                <a:t>“From predicting rainfall to translating uncertainty into agricultural decisions.”</a:t>
              </a:r>
            </a:p>
          </p:txBody>
        </p:sp>
      </p:grpSp>
      <p:grpSp>
        <p:nvGrpSpPr>
          <p:cNvPr id="126" name="Rounded Rectangle 2097157"/>
          <p:cNvGrpSpPr/>
          <p:nvPr/>
        </p:nvGrpSpPr>
        <p:grpSpPr>
          <a:xfrm>
            <a:off x="365759" y="1719072"/>
            <a:ext cx="5623561" cy="777241"/>
            <a:chOff x="0" y="0"/>
            <a:chExt cx="5623559" cy="777240"/>
          </a:xfrm>
        </p:grpSpPr>
        <p:sp>
          <p:nvSpPr>
            <p:cNvPr id="124" name="Rounded Rectangle"/>
            <p:cNvSpPr/>
            <p:nvPr/>
          </p:nvSpPr>
          <p:spPr>
            <a:xfrm>
              <a:off x="0" y="0"/>
              <a:ext cx="5623560" cy="777241"/>
            </a:xfrm>
            <a:prstGeom prst="roundRect">
              <a:avLst>
                <a:gd name="adj" fmla="val 16667"/>
              </a:avLst>
            </a:prstGeom>
            <a:solidFill>
              <a:srgbClr val="FEF2F2"/>
            </a:solidFill>
            <a:ln w="12700" cap="flat">
              <a:solidFill>
                <a:srgbClr val="FECAC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5" name="CONVENTIONAL APPROACH:  Forecast → Information…"/>
            <p:cNvSpPr txBox="1"/>
            <p:nvPr/>
          </p:nvSpPr>
          <p:spPr>
            <a:xfrm>
              <a:off x="90011" y="76113"/>
              <a:ext cx="5443537" cy="6250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900">
                  <a:solidFill>
                    <a:srgbClr val="DC2626"/>
                  </a:solidFill>
                </a:defRPr>
              </a:pPr>
              <a:r>
                <a:t>CONVENTIONAL APPROACH:  Forecast → Information</a:t>
              </a:r>
            </a:p>
            <a:p>
              <a:pPr algn="ctr">
                <a:defRPr b="1" sz="900">
                  <a:solidFill>
                    <a:srgbClr val="DC2626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334155"/>
                  </a:solidFill>
                </a:defRPr>
              </a:pPr>
              <a:r>
                <a:t>• Coarse 50–100 km district forecasts mask village micro-climates and localized dry spells.</a:t>
              </a:r>
            </a:p>
            <a:p>
              <a:pPr>
                <a:defRPr sz="900">
                  <a:solidFill>
                    <a:srgbClr val="334155"/>
                  </a:solidFill>
                </a:defRPr>
              </a:pPr>
              <a:r>
                <a:t>• Delivers raw millimeter rain predictions; leaves farmers to guess sowing &amp; irrigation timing.</a:t>
              </a:r>
            </a:p>
          </p:txBody>
        </p:sp>
      </p:grpSp>
      <p:grpSp>
        <p:nvGrpSpPr>
          <p:cNvPr id="129" name="Rounded Rectangle 2097158"/>
          <p:cNvGrpSpPr/>
          <p:nvPr/>
        </p:nvGrpSpPr>
        <p:grpSpPr>
          <a:xfrm>
            <a:off x="6199632" y="1719072"/>
            <a:ext cx="5623560" cy="777241"/>
            <a:chOff x="0" y="0"/>
            <a:chExt cx="5623559" cy="777240"/>
          </a:xfrm>
        </p:grpSpPr>
        <p:sp>
          <p:nvSpPr>
            <p:cNvPr id="127" name="Rounded Rectangle"/>
            <p:cNvSpPr/>
            <p:nvPr/>
          </p:nvSpPr>
          <p:spPr>
            <a:xfrm>
              <a:off x="0" y="0"/>
              <a:ext cx="5623560" cy="777241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12700" cap="flat">
              <a:solidFill>
                <a:srgbClr val="BBF7D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8" name="VARSHASETU APPROACH:  Forecast → Risk → Agricultural Decision → Action…"/>
            <p:cNvSpPr txBox="1"/>
            <p:nvPr/>
          </p:nvSpPr>
          <p:spPr>
            <a:xfrm>
              <a:off x="90011" y="76113"/>
              <a:ext cx="5443537" cy="6250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900">
                  <a:solidFill>
                    <a:srgbClr val="10A34A"/>
                  </a:solidFill>
                </a:defRPr>
              </a:pPr>
              <a:r>
                <a:t>VARSHASETU APPROACH:  Forecast → Risk → Agricultural Decision → Action</a:t>
              </a:r>
            </a:p>
            <a:p>
              <a:pPr algn="ctr">
                <a:defRPr b="1" sz="900">
                  <a:solidFill>
                    <a:srgbClr val="10A34A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334155"/>
                  </a:solidFill>
                </a:defRPr>
              </a:pPr>
              <a:r>
                <a:t>• Hyperlocal block/village precision (5–10 km) bridging the scale gap with local agro-meteorology.</a:t>
              </a:r>
            </a:p>
            <a:p>
              <a:pPr>
                <a:defRPr sz="900">
                  <a:solidFill>
                    <a:srgbClr val="334155"/>
                  </a:solidFill>
                </a:defRPr>
              </a:pPr>
              <a:r>
                <a:t>• Translates 7–30 day S2S probabilities directly into ICAR-CRIDA crop stage directives.</a:t>
              </a:r>
            </a:p>
          </p:txBody>
        </p:sp>
      </p:grpSp>
      <p:grpSp>
        <p:nvGrpSpPr>
          <p:cNvPr id="132" name="Rounded Rectangle 2097159"/>
          <p:cNvGrpSpPr/>
          <p:nvPr/>
        </p:nvGrpSpPr>
        <p:grpSpPr>
          <a:xfrm>
            <a:off x="365759" y="2583180"/>
            <a:ext cx="2743201" cy="1691641"/>
            <a:chOff x="0" y="0"/>
            <a:chExt cx="2743200" cy="1691639"/>
          </a:xfrm>
        </p:grpSpPr>
        <p:sp>
          <p:nvSpPr>
            <p:cNvPr id="130" name="Rounded Rectangle"/>
            <p:cNvSpPr/>
            <p:nvPr/>
          </p:nvSpPr>
          <p:spPr>
            <a:xfrm>
              <a:off x="0" y="0"/>
              <a:ext cx="2743200" cy="1691640"/>
            </a:xfrm>
            <a:prstGeom prst="roundRect">
              <a:avLst>
                <a:gd name="adj" fmla="val 16667"/>
              </a:avLst>
            </a:prstGeom>
            <a:solidFill>
              <a:srgbClr val="EEF2FF"/>
            </a:solidFill>
            <a:ln w="15240" cap="flat">
              <a:solidFill>
                <a:srgbClr val="1D4ED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1" name="ONSET OUTLOOK…"/>
            <p:cNvSpPr txBox="1"/>
            <p:nvPr/>
          </p:nvSpPr>
          <p:spPr>
            <a:xfrm>
              <a:off x="135918" y="153714"/>
              <a:ext cx="2471364" cy="13842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1D4ED8"/>
                  </a:solidFill>
                </a:defRPr>
              </a:pPr>
              <a:r>
                <a:t>ONSET OUTLOOK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r>
                <a:t>Probabilistic Monsoon Onset Assessment</a:t>
              </a: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Adapts IMD criteria: 2d rain ≥2.5mm, 850 hPa wind ≥7.7 m/s, OLR ≤200 W/m²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Status: MET / NOT MET with arrival date probability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Directs optimal sowing preparation window</a:t>
              </a:r>
            </a:p>
          </p:txBody>
        </p:sp>
      </p:grpSp>
      <p:grpSp>
        <p:nvGrpSpPr>
          <p:cNvPr id="135" name="Rounded Rectangle 2097160"/>
          <p:cNvGrpSpPr/>
          <p:nvPr/>
        </p:nvGrpSpPr>
        <p:grpSpPr>
          <a:xfrm>
            <a:off x="3250677" y="2577631"/>
            <a:ext cx="2770661" cy="1708575"/>
            <a:chOff x="0" y="0"/>
            <a:chExt cx="2770660" cy="1708574"/>
          </a:xfrm>
        </p:grpSpPr>
        <p:sp>
          <p:nvSpPr>
            <p:cNvPr id="133" name="Rounded Rectangle"/>
            <p:cNvSpPr/>
            <p:nvPr/>
          </p:nvSpPr>
          <p:spPr>
            <a:xfrm>
              <a:off x="0" y="0"/>
              <a:ext cx="2770661" cy="1708574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15240" cap="flat">
              <a:solidFill>
                <a:srgbClr val="10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4" name="ACTIVE SPELL OUTLOOK…"/>
            <p:cNvSpPr txBox="1"/>
            <p:nvPr/>
          </p:nvSpPr>
          <p:spPr>
            <a:xfrm>
              <a:off x="130244" y="21502"/>
              <a:ext cx="2510172" cy="16855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000">
                  <a:solidFill>
                    <a:srgbClr val="10A34A"/>
                  </a:solidFill>
                </a:defRPr>
              </a:pPr>
              <a:r>
                <a:t>ACTIVE SPELL OUTLOOK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r>
                <a:t>Intra-Seasonal Active Wet-Spell Outlook</a:t>
              </a: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Detects sustained wet circulation (&gt;+20% normal rain for ≥5 days)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Identifies expected duration &amp; soil saturation curves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Maximizes rainwater harvesting &amp; nursery sowing</a:t>
              </a:r>
            </a:p>
          </p:txBody>
        </p:sp>
      </p:grpSp>
      <p:grpSp>
        <p:nvGrpSpPr>
          <p:cNvPr id="138" name="Rounded Rectangle 2097161"/>
          <p:cNvGrpSpPr/>
          <p:nvPr/>
        </p:nvGrpSpPr>
        <p:grpSpPr>
          <a:xfrm>
            <a:off x="6163055" y="2560320"/>
            <a:ext cx="2743201" cy="1691641"/>
            <a:chOff x="0" y="0"/>
            <a:chExt cx="2743200" cy="1691639"/>
          </a:xfrm>
        </p:grpSpPr>
        <p:sp>
          <p:nvSpPr>
            <p:cNvPr id="136" name="Rounded Rectangle"/>
            <p:cNvSpPr/>
            <p:nvPr/>
          </p:nvSpPr>
          <p:spPr>
            <a:xfrm>
              <a:off x="0" y="0"/>
              <a:ext cx="2743200" cy="1691640"/>
            </a:xfrm>
            <a:prstGeom prst="roundRect">
              <a:avLst>
                <a:gd name="adj" fmla="val 16667"/>
              </a:avLst>
            </a:prstGeom>
            <a:solidFill>
              <a:srgbClr val="FEF3C7"/>
            </a:solidFill>
            <a:ln w="15240" cap="flat">
              <a:solidFill>
                <a:srgbClr val="D9770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7" name="BREAK SPELL OUTLOOK…"/>
            <p:cNvSpPr txBox="1"/>
            <p:nvPr/>
          </p:nvSpPr>
          <p:spPr>
            <a:xfrm>
              <a:off x="135918" y="71164"/>
              <a:ext cx="2471364" cy="1549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D97706"/>
                  </a:solidFill>
                </a:defRPr>
              </a:pPr>
              <a:r>
                <a:t>BREAK SPELL OUTLOOK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r>
                <a:t>Dry-Spell / Severe Break Outlook</a:t>
              </a: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Predicts prolonged dry runs: 3–5d, 5–7d, and &gt;7d continuous dry spell alerts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Helps reduce re-sowing risk through break-spell awareness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Triggers life-saving irrigation &amp; contingent crop alerts</a:t>
              </a:r>
            </a:p>
          </p:txBody>
        </p:sp>
      </p:grpSp>
      <p:grpSp>
        <p:nvGrpSpPr>
          <p:cNvPr id="141" name="Rounded Rectangle 2097162"/>
          <p:cNvGrpSpPr/>
          <p:nvPr/>
        </p:nvGrpSpPr>
        <p:grpSpPr>
          <a:xfrm>
            <a:off x="9061704" y="2560320"/>
            <a:ext cx="2743201" cy="1691641"/>
            <a:chOff x="0" y="0"/>
            <a:chExt cx="2743200" cy="1691639"/>
          </a:xfrm>
        </p:grpSpPr>
        <p:sp>
          <p:nvSpPr>
            <p:cNvPr id="139" name="Rounded Rectangle"/>
            <p:cNvSpPr/>
            <p:nvPr/>
          </p:nvSpPr>
          <p:spPr>
            <a:xfrm>
              <a:off x="0" y="0"/>
              <a:ext cx="2743200" cy="1691640"/>
            </a:xfrm>
            <a:prstGeom prst="roundRect">
              <a:avLst>
                <a:gd name="adj" fmla="val 16667"/>
              </a:avLst>
            </a:prstGeom>
            <a:solidFill>
              <a:srgbClr val="FEF2F2"/>
            </a:solidFill>
            <a:ln w="15240" cap="flat">
              <a:solidFill>
                <a:srgbClr val="DC262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0" name="HEAVY RAIN RISK…"/>
            <p:cNvSpPr txBox="1"/>
            <p:nvPr/>
          </p:nvSpPr>
          <p:spPr>
            <a:xfrm>
              <a:off x="135918" y="72566"/>
              <a:ext cx="2471364" cy="15465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100">
                  <a:solidFill>
                    <a:srgbClr val="DC2626"/>
                  </a:solidFill>
                </a:defRPr>
              </a:pPr>
              <a:r>
                <a:t>HEAVY RAIN RISK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1100">
                  <a:solidFill>
                    <a:srgbClr val="0F172A"/>
                  </a:solidFill>
                </a:defRPr>
              </a:pPr>
              <a:r>
                <a:t>Extreme Precipitation Warnings (&gt;64.5 mm)</a:t>
              </a:r>
            </a:p>
            <a:p>
              <a:pPr>
                <a:defRPr sz="1100">
                  <a:solidFill>
                    <a:srgbClr val="334155"/>
                  </a:solidFill>
                </a:defRPr>
              </a:pPr>
              <a:r>
                <a:t>• Evaluates daily rainfall exceeding 64.5 mm IMD threshold</a:t>
              </a:r>
            </a:p>
            <a:p>
              <a:pPr>
                <a:defRPr sz="1100">
                  <a:solidFill>
                    <a:srgbClr val="334155"/>
                  </a:solidFill>
                </a:defRPr>
              </a:pPr>
              <a:r>
                <a:t>• Prevents fertilizer leaching and expensive urea top-dressing washout</a:t>
              </a:r>
            </a:p>
            <a:p>
              <a:pPr>
                <a:defRPr sz="1100">
                  <a:solidFill>
                    <a:srgbClr val="334155"/>
                  </a:solidFill>
                </a:defRPr>
              </a:pPr>
              <a:r>
                <a:t>• Advises field furrow drainage to prevent root rot</a:t>
              </a:r>
            </a:p>
          </p:txBody>
        </p:sp>
      </p:grpSp>
      <p:grpSp>
        <p:nvGrpSpPr>
          <p:cNvPr id="144" name="Rounded Rectangle 2097163"/>
          <p:cNvGrpSpPr/>
          <p:nvPr/>
        </p:nvGrpSpPr>
        <p:grpSpPr>
          <a:xfrm>
            <a:off x="367284" y="4323867"/>
            <a:ext cx="11457432" cy="347473"/>
            <a:chOff x="0" y="0"/>
            <a:chExt cx="11457431" cy="347472"/>
          </a:xfrm>
        </p:grpSpPr>
        <p:sp>
          <p:nvSpPr>
            <p:cNvPr id="142" name="Rounded Rectangle"/>
            <p:cNvSpPr/>
            <p:nvPr/>
          </p:nvSpPr>
          <p:spPr>
            <a:xfrm>
              <a:off x="0" y="0"/>
              <a:ext cx="11457432" cy="347473"/>
            </a:xfrm>
            <a:prstGeom prst="roundRect">
              <a:avLst>
                <a:gd name="adj" fmla="val 16667"/>
              </a:avLst>
            </a:prstGeom>
            <a:solidFill>
              <a:srgbClr val="1E293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3" name="DECISION CHAIN: Climate Signals  ➔  Regional Weather  ➔  Probabilistic S2S Forecast  ➔  Hyperlocal Risk  ➔  Crop-Specific Advisory  ➔  Farmer / Officer Action"/>
            <p:cNvSpPr txBox="1"/>
            <p:nvPr/>
          </p:nvSpPr>
          <p:spPr>
            <a:xfrm>
              <a:off x="62681" y="63499"/>
              <a:ext cx="11332069" cy="2204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E0F2FE"/>
                  </a:solidFill>
                </a:defRPr>
              </a:pPr>
              <a:r>
                <a:t>DECISION CHAIN: Climate Signals 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 </a:t>
              </a:r>
              <a:r>
                <a:t>Regional Weather 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 </a:t>
              </a:r>
              <a:r>
                <a:t>Probabilistic S2S Forecast 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 </a:t>
              </a:r>
              <a:r>
                <a:t>Hyperlocal Risk 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 </a:t>
              </a:r>
              <a:r>
                <a:t>Crop-Specific Advisory 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 </a:t>
              </a:r>
              <a:r>
                <a:t>Farmer / Officer Action</a:t>
              </a:r>
            </a:p>
          </p:txBody>
        </p:sp>
      </p:grpSp>
      <p:grpSp>
        <p:nvGrpSpPr>
          <p:cNvPr id="147" name="Rounded Rectangle 2097164"/>
          <p:cNvGrpSpPr/>
          <p:nvPr/>
        </p:nvGrpSpPr>
        <p:grpSpPr>
          <a:xfrm>
            <a:off x="335279" y="4731861"/>
            <a:ext cx="6126481" cy="1554481"/>
            <a:chOff x="0" y="0"/>
            <a:chExt cx="6126479" cy="1554480"/>
          </a:xfrm>
        </p:grpSpPr>
        <p:sp>
          <p:nvSpPr>
            <p:cNvPr id="145" name="Rounded Rectangle"/>
            <p:cNvSpPr/>
            <p:nvPr/>
          </p:nvSpPr>
          <p:spPr>
            <a:xfrm>
              <a:off x="0" y="0"/>
              <a:ext cx="6126480" cy="1554481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6" name="SIX CORE INNOVATION PILLARS (HOW VARSHASETU DIFFERS):…"/>
            <p:cNvSpPr txBox="1"/>
            <p:nvPr/>
          </p:nvSpPr>
          <p:spPr>
            <a:xfrm>
              <a:off x="127953" y="185333"/>
              <a:ext cx="5870574" cy="11838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900">
                  <a:solidFill>
                    <a:srgbClr val="0284C7"/>
                  </a:solidFill>
                </a:defRPr>
              </a:pPr>
              <a:r>
                <a:t>SIX CORE INNOVATION PILLARS (HOW VARSHASETU DIFFERS):</a:t>
              </a:r>
            </a:p>
            <a:p>
              <a:pPr algn="ctr">
                <a:defRPr b="1" sz="900">
                  <a:solidFill>
                    <a:srgbClr val="0284C7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0F172A"/>
                  </a:solidFill>
                </a:defRPr>
              </a:pPr>
              <a:r>
                <a:t>• 1. Hyperlocal Scale: Bridges scale gap between broader 50km models and 5–10km village agricultural decisions.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0F172A"/>
                  </a:solidFill>
                </a:defRPr>
              </a:pPr>
              <a:r>
                <a:t>• 2. Planetary Teleconnections: Integrates global ENSO ONI, IOD DMI, and MJO RMM with localized agro-meteorology.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0F172A"/>
                  </a:solidFill>
                </a:defRPr>
              </a:pPr>
              <a:r>
                <a:t>• 3. Probabilistic S2S Outlooks: 7, 14, 21, and 30-day forecast windows with calibrated uncertainty bounds.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0F172A"/>
                  </a:solidFill>
                </a:defRPr>
              </a:pPr>
              <a:r>
                <a:t>• 4. Operational Decision Layers: Dedicated onset, active, break, and heavy-rain threshold assessments.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0F172A"/>
                  </a:solidFill>
                </a:defRPr>
              </a:pPr>
              <a:r>
                <a:t>• 5. Crop-Specific Agronomy: ICAR-CRIDA rules for 6 Kharif crops + automatic contingent short-duration cultivars.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900">
                  <a:solidFill>
                    <a:srgbClr val="0F172A"/>
                  </a:solidFill>
                </a:defRPr>
              </a:pPr>
              <a:r>
                <a:t>• 6. Inclusive Last-Mile Reach: 7 Indian languages, native Urdu RTL layout, and Web Speech audio TTS.</a:t>
              </a:r>
            </a:p>
          </p:txBody>
        </p:sp>
      </p:grpSp>
      <p:grpSp>
        <p:nvGrpSpPr>
          <p:cNvPr id="150" name="Rounded Rectangle 2097165"/>
          <p:cNvGrpSpPr/>
          <p:nvPr/>
        </p:nvGrpSpPr>
        <p:grpSpPr>
          <a:xfrm>
            <a:off x="6629400" y="4718303"/>
            <a:ext cx="5193792" cy="1554481"/>
            <a:chOff x="0" y="0"/>
            <a:chExt cx="5193791" cy="1554480"/>
          </a:xfrm>
        </p:grpSpPr>
        <p:sp>
          <p:nvSpPr>
            <p:cNvPr id="148" name="Rounded Rectangle"/>
            <p:cNvSpPr/>
            <p:nvPr/>
          </p:nvSpPr>
          <p:spPr>
            <a:xfrm>
              <a:off x="0" y="0"/>
              <a:ext cx="5193792" cy="1554481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WORKING PROTOTYPE EVIDENCE (STATUS GRID):…"/>
            <p:cNvSpPr txBox="1"/>
            <p:nvPr/>
          </p:nvSpPr>
          <p:spPr>
            <a:xfrm>
              <a:off x="127953" y="620680"/>
              <a:ext cx="4937886" cy="3131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10A34A"/>
                  </a:solidFill>
                </a:defRPr>
              </a:pPr>
              <a:r>
                <a:t>WORKING PROTOTYPE EVIDENCE (STATUS GRID):</a:t>
              </a:r>
            </a:p>
            <a:p>
              <a:pPr algn="ctr">
                <a:defRPr b="1" sz="800">
                  <a:solidFill>
                    <a:srgbClr val="10A34A"/>
                  </a:solidFill>
                </a:defRPr>
              </a:pPr>
              <a:r>
                <a:rPr b="0" sz="700">
                  <a:solidFill>
                    <a:srgbClr val="64748B"/>
                  </a:solidFill>
                </a:rPr>
                <a:t>Dharmasagar Catchment: Onset MET, Active 74%, Break 18% (Helps reduce re-sowing risk)</a:t>
              </a:r>
            </a:p>
          </p:txBody>
        </p:sp>
      </p:grpSp>
      <p:pic>
        <p:nvPicPr>
          <p:cNvPr id="151" name="Picture 2097166" descr="Picture 20971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20840" y="5010911"/>
            <a:ext cx="5010913" cy="12070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Footer Placeholder 6"/>
          <p:cNvSpPr txBox="1"/>
          <p:nvPr/>
        </p:nvSpPr>
        <p:spPr>
          <a:xfrm>
            <a:off x="4693920" y="6404295"/>
            <a:ext cx="31125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54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400"/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55" name="Title 1"/>
          <p:cNvSpPr txBox="1"/>
          <p:nvPr>
            <p:ph type="title"/>
          </p:nvPr>
        </p:nvSpPr>
        <p:spPr>
          <a:xfrm>
            <a:off x="1691639" y="109727"/>
            <a:ext cx="8001001" cy="777242"/>
          </a:xfrm>
          <a:prstGeom prst="rect">
            <a:avLst/>
          </a:prstGeom>
        </p:spPr>
        <p:txBody>
          <a:bodyPr/>
          <a:lstStyle>
            <a:lvl1pPr algn="l">
              <a:defRPr b="1" sz="2000">
                <a:solidFill>
                  <a:srgbClr val="0F172A"/>
                </a:solidFill>
              </a:defRPr>
            </a:lvl1pPr>
          </a:lstStyle>
          <a:p>
            <a:pPr/>
            <a:r>
              <a:t>TECHNICAL APPROACH</a:t>
            </a:r>
          </a:p>
        </p:txBody>
      </p:sp>
      <p:sp>
        <p:nvSpPr>
          <p:cNvPr id="156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59" name="Oval 10"/>
          <p:cNvGrpSpPr/>
          <p:nvPr/>
        </p:nvGrpSpPr>
        <p:grpSpPr>
          <a:xfrm>
            <a:off x="55452" y="20114"/>
            <a:ext cx="1251859" cy="807335"/>
            <a:chOff x="0" y="0"/>
            <a:chExt cx="1251857" cy="807334"/>
          </a:xfrm>
        </p:grpSpPr>
        <p:sp>
          <p:nvSpPr>
            <p:cNvPr id="157" name="Oval"/>
            <p:cNvSpPr/>
            <p:nvPr/>
          </p:nvSpPr>
          <p:spPr>
            <a:xfrm>
              <a:off x="0" y="-1"/>
              <a:ext cx="1251858" cy="807336"/>
            </a:xfrm>
            <a:prstGeom prst="ellipse">
              <a:avLst/>
            </a:prstGeom>
            <a:solidFill>
              <a:srgbClr val="FFFFFF"/>
            </a:solidFill>
            <a:ln w="19050" cap="flat">
              <a:solidFill>
                <a:srgbClr val="0B6B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58" name="TITANS"/>
            <p:cNvSpPr txBox="1"/>
            <p:nvPr/>
          </p:nvSpPr>
          <p:spPr>
            <a:xfrm>
              <a:off x="238574" y="274566"/>
              <a:ext cx="774709" cy="258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0B6BBA"/>
                  </a:solidFill>
                </a:defRPr>
              </a:lvl1pPr>
            </a:lstStyle>
            <a:p>
              <a:pPr/>
              <a:r>
                <a:t>TITANS</a:t>
              </a:r>
            </a:p>
          </p:txBody>
        </p:sp>
      </p:grpSp>
      <p:pic>
        <p:nvPicPr>
          <p:cNvPr id="160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1833" y="-34643"/>
            <a:ext cx="1951817" cy="92161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3" name="Rounded Rectangle 2097156"/>
          <p:cNvGrpSpPr/>
          <p:nvPr/>
        </p:nvGrpSpPr>
        <p:grpSpPr>
          <a:xfrm>
            <a:off x="435275" y="842025"/>
            <a:ext cx="11146110" cy="453785"/>
            <a:chOff x="0" y="0"/>
            <a:chExt cx="11146108" cy="453784"/>
          </a:xfrm>
        </p:grpSpPr>
        <p:sp>
          <p:nvSpPr>
            <p:cNvPr id="161" name="Rounded Rectangle"/>
            <p:cNvSpPr/>
            <p:nvPr/>
          </p:nvSpPr>
          <p:spPr>
            <a:xfrm>
              <a:off x="0" y="22778"/>
              <a:ext cx="11145071" cy="408228"/>
            </a:xfrm>
            <a:prstGeom prst="roundRect">
              <a:avLst>
                <a:gd name="adj" fmla="val 14464"/>
              </a:avLst>
            </a:prstGeom>
            <a:solidFill>
              <a:srgbClr val="F1F5F9"/>
            </a:solidFill>
            <a:ln w="12700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2" name="❖ Predefined Pointers • Technologies to be used (languages, frameworks, hardware) • Methodology and process for implementation (Flow Charts/Images/ working prototype)"/>
            <p:cNvSpPr txBox="1"/>
            <p:nvPr/>
          </p:nvSpPr>
          <p:spPr>
            <a:xfrm>
              <a:off x="37887" y="0"/>
              <a:ext cx="11108222" cy="4537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>
                <a:defRPr sz="900">
                  <a:solidFill>
                    <a:srgbClr val="334155"/>
                  </a:solidFill>
                  <a:latin typeface="Arial Black"/>
                  <a:ea typeface="Arial Black"/>
                  <a:cs typeface="Arial Black"/>
                  <a:sym typeface="Arial Black"/>
                </a:defRPr>
              </a:lvl1pPr>
            </a:lstStyle>
            <a:p>
              <a:pPr/>
              <a:r>
                <a:t>  ❖ Predefined Pointers • Technologies to be used (languages, frameworks, hardware) • Methodology and process for implementation (Flow Charts/Images/ working prototype)</a:t>
              </a:r>
            </a:p>
          </p:txBody>
        </p:sp>
      </p:grpSp>
      <p:sp>
        <p:nvSpPr>
          <p:cNvPr id="164" name="Rounded Rectangle 2097157"/>
          <p:cNvSpPr/>
          <p:nvPr/>
        </p:nvSpPr>
        <p:spPr>
          <a:xfrm>
            <a:off x="63509" y="1318006"/>
            <a:ext cx="5538192" cy="4504751"/>
          </a:xfrm>
          <a:prstGeom prst="roundRect">
            <a:avLst>
              <a:gd name="adj" fmla="val 17464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67" name="Rounded Rectangle 2097158"/>
          <p:cNvGrpSpPr/>
          <p:nvPr/>
        </p:nvGrpSpPr>
        <p:grpSpPr>
          <a:xfrm>
            <a:off x="465710" y="1431813"/>
            <a:ext cx="4733790" cy="282616"/>
            <a:chOff x="0" y="0"/>
            <a:chExt cx="4733788" cy="282614"/>
          </a:xfrm>
        </p:grpSpPr>
        <p:sp>
          <p:nvSpPr>
            <p:cNvPr id="165" name="Rounded Rectangle"/>
            <p:cNvSpPr/>
            <p:nvPr/>
          </p:nvSpPr>
          <p:spPr>
            <a:xfrm>
              <a:off x="0" y="0"/>
              <a:ext cx="4733789" cy="282615"/>
            </a:xfrm>
            <a:prstGeom prst="roundRect">
              <a:avLst>
                <a:gd name="adj" fmla="val 16667"/>
              </a:avLst>
            </a:prstGeom>
            <a:solidFill>
              <a:srgbClr val="0F172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6" name="END-TO-END ARCHITECTURAL &amp; METHODOLOGY PIPELINE"/>
            <p:cNvSpPr txBox="1"/>
            <p:nvPr/>
          </p:nvSpPr>
          <p:spPr>
            <a:xfrm>
              <a:off x="57954" y="46646"/>
              <a:ext cx="4617881" cy="1893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 sz="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END-TO-END ARCHITECTURAL &amp; METHODOLOGY PIPELINE</a:t>
              </a:r>
            </a:p>
          </p:txBody>
        </p:sp>
      </p:grpSp>
      <p:grpSp>
        <p:nvGrpSpPr>
          <p:cNvPr id="170" name="Rounded Rectangle 2097159"/>
          <p:cNvGrpSpPr/>
          <p:nvPr/>
        </p:nvGrpSpPr>
        <p:grpSpPr>
          <a:xfrm>
            <a:off x="382013" y="1792223"/>
            <a:ext cx="4901184" cy="438913"/>
            <a:chOff x="0" y="0"/>
            <a:chExt cx="4901183" cy="438912"/>
          </a:xfrm>
        </p:grpSpPr>
        <p:sp>
          <p:nvSpPr>
            <p:cNvPr id="168" name="Rounded Rectangle"/>
            <p:cNvSpPr/>
            <p:nvPr/>
          </p:nvSpPr>
          <p:spPr>
            <a:xfrm>
              <a:off x="0" y="0"/>
              <a:ext cx="4901184" cy="438913"/>
            </a:xfrm>
            <a:prstGeom prst="roundRect">
              <a:avLst>
                <a:gd name="adj" fmla="val 16667"/>
              </a:avLst>
            </a:prstGeom>
            <a:solidFill>
              <a:srgbClr val="EEF2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9" name="1. GLOBAL TELECONNECTIONS: NOAA CPC ONI (real SST connector) | IOD (DMI) &amp; MJO (RMM) benchmarks"/>
            <p:cNvSpPr txBox="1"/>
            <p:nvPr/>
          </p:nvSpPr>
          <p:spPr>
            <a:xfrm>
              <a:off x="73496" y="46649"/>
              <a:ext cx="4754191" cy="345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900">
                  <a:solidFill>
                    <a:srgbClr val="1D4ED8"/>
                  </a:solidFill>
                </a:defRPr>
              </a:pPr>
              <a:r>
                <a:t>1. GLOBAL TELECONNECTIONS: </a:t>
              </a:r>
              <a:r>
                <a:rPr b="0">
                  <a:solidFill>
                    <a:srgbClr val="334155"/>
                  </a:solidFill>
                </a:rPr>
                <a:t>NOAA CPC ONI (real SST connector) | IOD (DMI) &amp; MJO (RMM) benchmarks</a:t>
              </a:r>
            </a:p>
          </p:txBody>
        </p:sp>
      </p:grpSp>
      <p:grpSp>
        <p:nvGrpSpPr>
          <p:cNvPr id="173" name="Rounded Rectangle 2097160"/>
          <p:cNvGrpSpPr/>
          <p:nvPr/>
        </p:nvGrpSpPr>
        <p:grpSpPr>
          <a:xfrm>
            <a:off x="382013" y="2259273"/>
            <a:ext cx="4901184" cy="438913"/>
            <a:chOff x="0" y="0"/>
            <a:chExt cx="4901183" cy="438912"/>
          </a:xfrm>
        </p:grpSpPr>
        <p:sp>
          <p:nvSpPr>
            <p:cNvPr id="171" name="Rounded Rectangle"/>
            <p:cNvSpPr/>
            <p:nvPr/>
          </p:nvSpPr>
          <p:spPr>
            <a:xfrm>
              <a:off x="0" y="0"/>
              <a:ext cx="4901184" cy="43891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2. REGIONAL AGRO-MET TELEMETRY: NASA POWER API + Tenali catchment daily observations (2015–2025; 4,018 rows)"/>
            <p:cNvSpPr txBox="1"/>
            <p:nvPr/>
          </p:nvSpPr>
          <p:spPr>
            <a:xfrm>
              <a:off x="73496" y="46649"/>
              <a:ext cx="4754191" cy="345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900">
                  <a:solidFill>
                    <a:srgbClr val="0F172A"/>
                  </a:solidFill>
                </a:defRPr>
              </a:pPr>
              <a:r>
                <a:t>2. REGIONAL AGRO-MET TELEMETRY: </a:t>
              </a:r>
              <a:r>
                <a:rPr b="0">
                  <a:solidFill>
                    <a:srgbClr val="334155"/>
                  </a:solidFill>
                </a:rPr>
                <a:t>NASA POWER API + Tenali catchment daily observations (2015–2025; 4,018 rows)</a:t>
              </a:r>
            </a:p>
          </p:txBody>
        </p:sp>
      </p:grpSp>
      <p:grpSp>
        <p:nvGrpSpPr>
          <p:cNvPr id="176" name="Rounded Rectangle 2097161"/>
          <p:cNvGrpSpPr/>
          <p:nvPr/>
        </p:nvGrpSpPr>
        <p:grpSpPr>
          <a:xfrm>
            <a:off x="382013" y="2726323"/>
            <a:ext cx="4901184" cy="438913"/>
            <a:chOff x="0" y="0"/>
            <a:chExt cx="4901183" cy="438912"/>
          </a:xfrm>
        </p:grpSpPr>
        <p:sp>
          <p:nvSpPr>
            <p:cNvPr id="174" name="Rounded Rectangle"/>
            <p:cNvSpPr/>
            <p:nvPr/>
          </p:nvSpPr>
          <p:spPr>
            <a:xfrm>
              <a:off x="0" y="0"/>
              <a:ext cx="4901184" cy="43891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5" name="3. FEATURE ENGINEERING: 18 input features: Lagged anomalies (7d, 14d, 30d), moisture deficit, thermal gradients"/>
            <p:cNvSpPr txBox="1"/>
            <p:nvPr/>
          </p:nvSpPr>
          <p:spPr>
            <a:xfrm>
              <a:off x="73496" y="46649"/>
              <a:ext cx="4754191" cy="345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900">
                  <a:solidFill>
                    <a:srgbClr val="0F172A"/>
                  </a:solidFill>
                </a:defRPr>
              </a:pPr>
              <a:r>
                <a:t>3. FEATURE ENGINEERING: </a:t>
              </a:r>
              <a:r>
                <a:rPr b="0">
                  <a:solidFill>
                    <a:srgbClr val="334155"/>
                  </a:solidFill>
                </a:rPr>
                <a:t>18 input features: Lagged anomalies (7d, 14d, 30d), moisture deficit, thermal gradients</a:t>
              </a:r>
            </a:p>
          </p:txBody>
        </p:sp>
      </p:grpSp>
      <p:grpSp>
        <p:nvGrpSpPr>
          <p:cNvPr id="179" name="Rounded Rectangle 2097162"/>
          <p:cNvGrpSpPr/>
          <p:nvPr/>
        </p:nvGrpSpPr>
        <p:grpSpPr>
          <a:xfrm>
            <a:off x="382013" y="3209543"/>
            <a:ext cx="4901184" cy="438914"/>
            <a:chOff x="0" y="0"/>
            <a:chExt cx="4901183" cy="438912"/>
          </a:xfrm>
        </p:grpSpPr>
        <p:sp>
          <p:nvSpPr>
            <p:cNvPr id="177" name="Rounded Rectangle"/>
            <p:cNvSpPr/>
            <p:nvPr/>
          </p:nvSpPr>
          <p:spPr>
            <a:xfrm>
              <a:off x="0" y="0"/>
              <a:ext cx="4901184" cy="438913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8" name="4. PHYSICS-INFORMED ML ENGINE: Random Forest Classifier (break_model_rf_real_candidate.joblib) trained on S2S physics"/>
            <p:cNvSpPr txBox="1"/>
            <p:nvPr/>
          </p:nvSpPr>
          <p:spPr>
            <a:xfrm>
              <a:off x="73496" y="46649"/>
              <a:ext cx="4754191" cy="345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900">
                  <a:solidFill>
                    <a:srgbClr val="0284C7"/>
                  </a:solidFill>
                </a:defRPr>
              </a:pPr>
              <a:r>
                <a:t>4. PHYSICS-INFORMED ML ENGINE: </a:t>
              </a:r>
              <a:r>
                <a:rPr b="0">
                  <a:solidFill>
                    <a:srgbClr val="334155"/>
                  </a:solidFill>
                </a:rPr>
                <a:t>Random Forest Classifier (break_model_rf_real_candidate.joblib) trained on S2S physics</a:t>
              </a:r>
            </a:p>
          </p:txBody>
        </p:sp>
      </p:grpSp>
      <p:grpSp>
        <p:nvGrpSpPr>
          <p:cNvPr id="182" name="Rounded Rectangle 2097163"/>
          <p:cNvGrpSpPr/>
          <p:nvPr/>
        </p:nvGrpSpPr>
        <p:grpSpPr>
          <a:xfrm>
            <a:off x="382013" y="3661650"/>
            <a:ext cx="4901184" cy="438913"/>
            <a:chOff x="0" y="0"/>
            <a:chExt cx="4901183" cy="438912"/>
          </a:xfrm>
        </p:grpSpPr>
        <p:sp>
          <p:nvSpPr>
            <p:cNvPr id="180" name="Rounded Rectangle"/>
            <p:cNvSpPr/>
            <p:nvPr/>
          </p:nvSpPr>
          <p:spPr>
            <a:xfrm>
              <a:off x="0" y="0"/>
              <a:ext cx="4901184" cy="438913"/>
            </a:xfrm>
            <a:prstGeom prst="roundRect">
              <a:avLst>
                <a:gd name="adj" fmla="val 16667"/>
              </a:avLst>
            </a:prstGeom>
            <a:solidFill>
              <a:srgbClr val="FEF3C7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1" name="5. PROBABILISTIC S2S OUTLOOK: 7 / 14 / 21 / 30-Day Multi-Horizon calibrated probabilistic distributions &amp; spreads"/>
            <p:cNvSpPr txBox="1"/>
            <p:nvPr/>
          </p:nvSpPr>
          <p:spPr>
            <a:xfrm>
              <a:off x="73496" y="46649"/>
              <a:ext cx="4754191" cy="345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900">
                  <a:solidFill>
                    <a:srgbClr val="D97706"/>
                  </a:solidFill>
                </a:defRPr>
              </a:pPr>
              <a:r>
                <a:t>5. PROBABILISTIC S2S OUTLOOK: </a:t>
              </a:r>
              <a:r>
                <a:rPr b="0">
                  <a:solidFill>
                    <a:srgbClr val="334155"/>
                  </a:solidFill>
                </a:rPr>
                <a:t>7 / 14 / 21 / 30-Day Multi-Horizon calibrated probabilistic distributions &amp; spreads</a:t>
              </a:r>
            </a:p>
          </p:txBody>
        </p:sp>
      </p:grpSp>
      <p:grpSp>
        <p:nvGrpSpPr>
          <p:cNvPr id="185" name="Rounded Rectangle 2097164"/>
          <p:cNvGrpSpPr/>
          <p:nvPr/>
        </p:nvGrpSpPr>
        <p:grpSpPr>
          <a:xfrm>
            <a:off x="382013" y="4154977"/>
            <a:ext cx="4901184" cy="438913"/>
            <a:chOff x="0" y="0"/>
            <a:chExt cx="4901183" cy="438912"/>
          </a:xfrm>
        </p:grpSpPr>
        <p:sp>
          <p:nvSpPr>
            <p:cNvPr id="183" name="Rounded Rectangle"/>
            <p:cNvSpPr/>
            <p:nvPr/>
          </p:nvSpPr>
          <p:spPr>
            <a:xfrm>
              <a:off x="0" y="0"/>
              <a:ext cx="4901184" cy="438913"/>
            </a:xfrm>
            <a:prstGeom prst="roundRect">
              <a:avLst>
                <a:gd name="adj" fmla="val 16667"/>
              </a:avLst>
            </a:prstGeom>
            <a:solidFill>
              <a:srgbClr val="FEF2F2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4" name="6. OPERATIONAL DECISION LAYER: IMD-adapted Onset (MET) | Active Spells | Break Risk (&gt;7d dry run) | Heavy Rain (&gt;64.5mm)"/>
            <p:cNvSpPr txBox="1"/>
            <p:nvPr/>
          </p:nvSpPr>
          <p:spPr>
            <a:xfrm>
              <a:off x="73496" y="46649"/>
              <a:ext cx="4754191" cy="345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900">
                  <a:solidFill>
                    <a:srgbClr val="DC2626"/>
                  </a:solidFill>
                </a:defRPr>
              </a:pPr>
              <a:r>
                <a:t>6. OPERATIONAL DECISION LAYER: </a:t>
              </a:r>
              <a:r>
                <a:rPr b="0">
                  <a:solidFill>
                    <a:srgbClr val="334155"/>
                  </a:solidFill>
                </a:rPr>
                <a:t>IMD-adapted Onset (MET) | Active Spells | Break Risk (&gt;7d dry run) | Heavy Rain (&gt;64.5mm)</a:t>
              </a:r>
            </a:p>
          </p:txBody>
        </p:sp>
      </p:grpSp>
      <p:grpSp>
        <p:nvGrpSpPr>
          <p:cNvPr id="188" name="Rounded Rectangle 2097165"/>
          <p:cNvGrpSpPr/>
          <p:nvPr/>
        </p:nvGrpSpPr>
        <p:grpSpPr>
          <a:xfrm>
            <a:off x="382013" y="4649848"/>
            <a:ext cx="4901184" cy="438913"/>
            <a:chOff x="0" y="0"/>
            <a:chExt cx="4901183" cy="438912"/>
          </a:xfrm>
        </p:grpSpPr>
        <p:sp>
          <p:nvSpPr>
            <p:cNvPr id="186" name="Rounded Rectangle"/>
            <p:cNvSpPr/>
            <p:nvPr/>
          </p:nvSpPr>
          <p:spPr>
            <a:xfrm>
              <a:off x="0" y="0"/>
              <a:ext cx="4901184" cy="438913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7" name="7. GEOSPATIAL &amp; ADVISORY ENGINES: Leaflet GIS Risk Polygons + ICAR-CRIDA stage rules for 6 Kharif crops &amp; alternatives"/>
            <p:cNvSpPr txBox="1"/>
            <p:nvPr/>
          </p:nvSpPr>
          <p:spPr>
            <a:xfrm>
              <a:off x="73496" y="46649"/>
              <a:ext cx="4754191" cy="345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900">
                  <a:solidFill>
                    <a:srgbClr val="10A34A"/>
                  </a:solidFill>
                </a:defRPr>
              </a:pPr>
              <a:r>
                <a:t>7. GEOSPATIAL &amp; ADVISORY ENGINES: </a:t>
              </a:r>
              <a:r>
                <a:rPr b="0">
                  <a:solidFill>
                    <a:srgbClr val="334155"/>
                  </a:solidFill>
                </a:rPr>
                <a:t>Leaflet GIS Risk Polygons + ICAR-CRIDA stage rules for 6 Kharif crops &amp; alternatives</a:t>
              </a:r>
            </a:p>
          </p:txBody>
        </p:sp>
      </p:grpSp>
      <p:grpSp>
        <p:nvGrpSpPr>
          <p:cNvPr id="191" name="Rounded Rectangle 2097166"/>
          <p:cNvGrpSpPr/>
          <p:nvPr/>
        </p:nvGrpSpPr>
        <p:grpSpPr>
          <a:xfrm>
            <a:off x="382013" y="5144719"/>
            <a:ext cx="4901184" cy="438913"/>
            <a:chOff x="0" y="0"/>
            <a:chExt cx="4901183" cy="438912"/>
          </a:xfrm>
        </p:grpSpPr>
        <p:sp>
          <p:nvSpPr>
            <p:cNvPr id="189" name="Rounded Rectangle"/>
            <p:cNvSpPr/>
            <p:nvPr/>
          </p:nvSpPr>
          <p:spPr>
            <a:xfrm>
              <a:off x="0" y="0"/>
              <a:ext cx="4901184" cy="438913"/>
            </a:xfrm>
            <a:prstGeom prst="roundRect">
              <a:avLst>
                <a:gd name="adj" fmla="val 16667"/>
              </a:avLst>
            </a:prstGeom>
            <a:solidFill>
              <a:srgbClr val="FAF5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0" name="8. MULTI-CHANNEL RURAL DELIVERY: Farmer / Extension Officer workflows | 7 Languages | Web Speech TTS | Simulated SMS/WhatsApp"/>
            <p:cNvSpPr txBox="1"/>
            <p:nvPr/>
          </p:nvSpPr>
          <p:spPr>
            <a:xfrm>
              <a:off x="73496" y="46649"/>
              <a:ext cx="4754191" cy="3456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900">
                  <a:solidFill>
                    <a:srgbClr val="9333EA"/>
                  </a:solidFill>
                </a:defRPr>
              </a:pPr>
              <a:r>
                <a:t>8. MULTI-CHANNEL RURAL DELIVERY: </a:t>
              </a:r>
              <a:r>
                <a:rPr b="0">
                  <a:solidFill>
                    <a:srgbClr val="334155"/>
                  </a:solidFill>
                </a:rPr>
                <a:t>Farmer / Extension Officer workflows | 7 Languages | Web Speech TTS | Simulated SMS/WhatsApp</a:t>
              </a:r>
            </a:p>
          </p:txBody>
        </p:sp>
      </p:grpSp>
      <p:sp>
        <p:nvSpPr>
          <p:cNvPr id="192" name="Rounded Rectangle 2097167"/>
          <p:cNvSpPr/>
          <p:nvPr/>
        </p:nvSpPr>
        <p:spPr>
          <a:xfrm>
            <a:off x="5669279" y="1316736"/>
            <a:ext cx="6153913" cy="22402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95" name="Rounded Rectangle 2097168"/>
          <p:cNvGrpSpPr/>
          <p:nvPr/>
        </p:nvGrpSpPr>
        <p:grpSpPr>
          <a:xfrm>
            <a:off x="5876326" y="1394845"/>
            <a:ext cx="5739820" cy="246118"/>
            <a:chOff x="0" y="0"/>
            <a:chExt cx="5739819" cy="246117"/>
          </a:xfrm>
        </p:grpSpPr>
        <p:sp>
          <p:nvSpPr>
            <p:cNvPr id="193" name="Rounded Rectangle"/>
            <p:cNvSpPr/>
            <p:nvPr/>
          </p:nvSpPr>
          <p:spPr>
            <a:xfrm>
              <a:off x="0" y="0"/>
              <a:ext cx="5739820" cy="246118"/>
            </a:xfrm>
            <a:prstGeom prst="roundRect">
              <a:avLst>
                <a:gd name="adj" fmla="val 16667"/>
              </a:avLst>
            </a:prstGeom>
            <a:solidFill>
              <a:srgbClr val="1D4ED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4" name="1. HYPERLOCAL GEOSPATIAL RISK MAP &amp; ISOCHRONES (LEAFLET.JS GIS)"/>
            <p:cNvSpPr txBox="1"/>
            <p:nvPr/>
          </p:nvSpPr>
          <p:spPr>
            <a:xfrm>
              <a:off x="55963" y="33602"/>
              <a:ext cx="5627893" cy="178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>
                <a:defRPr b="1" sz="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  1. HYPERLOCAL GEOSPATIAL RISK MAP &amp; ISOCHRONES (LEAFLET.JS GIS)</a:t>
              </a:r>
            </a:p>
          </p:txBody>
        </p:sp>
      </p:grpSp>
      <p:pic>
        <p:nvPicPr>
          <p:cNvPr id="196" name="Picture 2097169" descr="Picture 209716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60720" y="1682494"/>
            <a:ext cx="5971033" cy="1664209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Box 2097170"/>
          <p:cNvSpPr txBox="1"/>
          <p:nvPr/>
        </p:nvSpPr>
        <p:spPr>
          <a:xfrm>
            <a:off x="5824728" y="3364991"/>
            <a:ext cx="5690418" cy="186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700">
                <a:solidFill>
                  <a:srgbClr val="64748B"/>
                </a:solidFill>
              </a:defRPr>
            </a:lvl1pPr>
          </a:lstStyle>
          <a:p>
            <a:pPr/>
            <a:r>
              <a:t>* Demonstration boundary — not an official administrative boundary. Isochrones &amp; radar are simulated.</a:t>
            </a:r>
          </a:p>
        </p:txBody>
      </p:sp>
      <p:sp>
        <p:nvSpPr>
          <p:cNvPr id="198" name="Rounded Rectangle 2097171"/>
          <p:cNvSpPr/>
          <p:nvPr/>
        </p:nvSpPr>
        <p:spPr>
          <a:xfrm>
            <a:off x="5669279" y="3621023"/>
            <a:ext cx="6153913" cy="2267713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01" name="Rounded Rectangle 2097172"/>
          <p:cNvGrpSpPr/>
          <p:nvPr/>
        </p:nvGrpSpPr>
        <p:grpSpPr>
          <a:xfrm>
            <a:off x="5884270" y="3699473"/>
            <a:ext cx="5723932" cy="245438"/>
            <a:chOff x="0" y="0"/>
            <a:chExt cx="5723931" cy="245436"/>
          </a:xfrm>
        </p:grpSpPr>
        <p:sp>
          <p:nvSpPr>
            <p:cNvPr id="199" name="Rounded Rectangle"/>
            <p:cNvSpPr/>
            <p:nvPr/>
          </p:nvSpPr>
          <p:spPr>
            <a:xfrm>
              <a:off x="0" y="0"/>
              <a:ext cx="5723932" cy="245437"/>
            </a:xfrm>
            <a:prstGeom prst="roundRect">
              <a:avLst>
                <a:gd name="adj" fmla="val 16667"/>
              </a:avLst>
            </a:prstGeom>
            <a:solidFill>
              <a:srgbClr val="10A34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0" name="2. ICAR-CRIDA AGRICULTURAL ADVISORY &amp; CONTINGENCY ENGINE"/>
            <p:cNvSpPr txBox="1"/>
            <p:nvPr/>
          </p:nvSpPr>
          <p:spPr>
            <a:xfrm>
              <a:off x="55808" y="33509"/>
              <a:ext cx="5612315" cy="1784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>
                <a:defRPr b="1" sz="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  2. ICAR-CRIDA AGRICULTURAL ADVISORY &amp; CONTINGENCY ENGINE</a:t>
              </a:r>
            </a:p>
          </p:txBody>
        </p:sp>
      </p:grpSp>
      <p:pic>
        <p:nvPicPr>
          <p:cNvPr id="202" name="Picture 2097173" descr="Picture 20971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60720" y="3986784"/>
            <a:ext cx="5971033" cy="1691641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TextBox 2097174"/>
          <p:cNvSpPr txBox="1"/>
          <p:nvPr/>
        </p:nvSpPr>
        <p:spPr>
          <a:xfrm>
            <a:off x="5901027" y="5601865"/>
            <a:ext cx="5690418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64748B"/>
                </a:solidFill>
              </a:defRPr>
            </a:lvl1pPr>
          </a:lstStyle>
          <a:p>
            <a:pPr/>
            <a:r>
              <a:t>Automatic alternative crop recommendation: Short-duration Telangana Sona RNR 15048 / Kadiri-6.</a:t>
            </a:r>
          </a:p>
        </p:txBody>
      </p:sp>
      <p:grpSp>
        <p:nvGrpSpPr>
          <p:cNvPr id="206" name="Rounded Rectangle 2097175"/>
          <p:cNvGrpSpPr/>
          <p:nvPr/>
        </p:nvGrpSpPr>
        <p:grpSpPr>
          <a:xfrm>
            <a:off x="365759" y="5943600"/>
            <a:ext cx="11457433" cy="347473"/>
            <a:chOff x="0" y="0"/>
            <a:chExt cx="11457431" cy="347472"/>
          </a:xfrm>
        </p:grpSpPr>
        <p:sp>
          <p:nvSpPr>
            <p:cNvPr id="204" name="Rounded Rectangle"/>
            <p:cNvSpPr/>
            <p:nvPr/>
          </p:nvSpPr>
          <p:spPr>
            <a:xfrm>
              <a:off x="0" y="0"/>
              <a:ext cx="11457432" cy="347473"/>
            </a:xfrm>
            <a:prstGeom prst="roundRect">
              <a:avLst>
                <a:gd name="adj" fmla="val 16667"/>
              </a:avLst>
            </a:prstGeom>
            <a:solidFill>
              <a:srgbClr val="0F172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5" name="TECH STACK: Python 3.14 / Flask 3.1  |  Scikit-Learn 1.6.1 / Joblib  |  Leaflet.js 1.9.4  |  Chart.js 4.4.1  |  SQLite3  |  Web Speech API  |  7-Language i18n"/>
            <p:cNvSpPr txBox="1"/>
            <p:nvPr/>
          </p:nvSpPr>
          <p:spPr>
            <a:xfrm>
              <a:off x="62681" y="75727"/>
              <a:ext cx="11332070" cy="1960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TECH STACK: Python 3.14 / Flask 3.1  |  Scikit-Learn 1.6.1 / Joblib  |  Leaflet.js 1.9.4  |  Chart.js 4.4.1  |  SQLite3  |  Web Speech API  |  7-Language i18n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Footer Placeholder 6"/>
          <p:cNvSpPr txBox="1"/>
          <p:nvPr/>
        </p:nvSpPr>
        <p:spPr>
          <a:xfrm>
            <a:off x="4693920" y="6404295"/>
            <a:ext cx="31125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209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300"/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210" name="Title 1"/>
          <p:cNvSpPr txBox="1"/>
          <p:nvPr>
            <p:ph type="title"/>
          </p:nvPr>
        </p:nvSpPr>
        <p:spPr>
          <a:xfrm>
            <a:off x="1447799" y="36838"/>
            <a:ext cx="8001001" cy="777241"/>
          </a:xfrm>
          <a:prstGeom prst="rect">
            <a:avLst/>
          </a:prstGeom>
        </p:spPr>
        <p:txBody>
          <a:bodyPr/>
          <a:lstStyle>
            <a:lvl1pPr algn="l">
              <a:defRPr b="1" sz="2000">
                <a:solidFill>
                  <a:srgbClr val="0F172A"/>
                </a:solidFill>
              </a:defRPr>
            </a:lvl1pPr>
          </a:lstStyle>
          <a:p>
            <a:pPr/>
            <a:r>
              <a:t>FEASIBILITY AND VIABILITY</a:t>
            </a:r>
          </a:p>
        </p:txBody>
      </p:sp>
      <p:sp>
        <p:nvSpPr>
          <p:cNvPr id="211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14" name="Oval 11"/>
          <p:cNvGrpSpPr/>
          <p:nvPr/>
        </p:nvGrpSpPr>
        <p:grpSpPr>
          <a:xfrm>
            <a:off x="65612" y="67240"/>
            <a:ext cx="1251859" cy="807335"/>
            <a:chOff x="0" y="0"/>
            <a:chExt cx="1251857" cy="807334"/>
          </a:xfrm>
        </p:grpSpPr>
        <p:sp>
          <p:nvSpPr>
            <p:cNvPr id="212" name="Oval"/>
            <p:cNvSpPr/>
            <p:nvPr/>
          </p:nvSpPr>
          <p:spPr>
            <a:xfrm>
              <a:off x="0" y="-1"/>
              <a:ext cx="1251858" cy="807336"/>
            </a:xfrm>
            <a:prstGeom prst="ellipse">
              <a:avLst/>
            </a:prstGeom>
            <a:solidFill>
              <a:srgbClr val="FFFFFF"/>
            </a:solidFill>
            <a:ln w="19050" cap="flat">
              <a:solidFill>
                <a:srgbClr val="0B6B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13" name="TITANS"/>
            <p:cNvSpPr txBox="1"/>
            <p:nvPr/>
          </p:nvSpPr>
          <p:spPr>
            <a:xfrm>
              <a:off x="238574" y="274566"/>
              <a:ext cx="774709" cy="258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0B6BBA"/>
                  </a:solidFill>
                </a:defRPr>
              </a:lvl1pPr>
            </a:lstStyle>
            <a:p>
              <a:pPr/>
              <a:r>
                <a:t>TITANS</a:t>
              </a:r>
            </a:p>
          </p:txBody>
        </p:sp>
      </p:grpSp>
      <p:pic>
        <p:nvPicPr>
          <p:cNvPr id="21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01591" y="8337"/>
            <a:ext cx="1959291" cy="92514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8" name="Rounded Rectangle 2097157"/>
          <p:cNvGrpSpPr/>
          <p:nvPr/>
        </p:nvGrpSpPr>
        <p:grpSpPr>
          <a:xfrm>
            <a:off x="406039" y="909266"/>
            <a:ext cx="11379922" cy="372779"/>
            <a:chOff x="0" y="-45820"/>
            <a:chExt cx="11379921" cy="372777"/>
          </a:xfrm>
        </p:grpSpPr>
        <p:sp>
          <p:nvSpPr>
            <p:cNvPr id="216" name="Rounded Rectangle"/>
            <p:cNvSpPr/>
            <p:nvPr/>
          </p:nvSpPr>
          <p:spPr>
            <a:xfrm>
              <a:off x="0" y="0"/>
              <a:ext cx="11379922" cy="326958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12700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7" name="❖ Predefined Pointers • Analysis of the feasibility of the idea • Potential challenges and risks • Strategies for overcoming these challenges"/>
            <p:cNvSpPr txBox="1"/>
            <p:nvPr/>
          </p:nvSpPr>
          <p:spPr>
            <a:xfrm>
              <a:off x="78458" y="-45821"/>
              <a:ext cx="10941174" cy="318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>
                <a:defRPr sz="800">
                  <a:solidFill>
                    <a:srgbClr val="334155"/>
                  </a:solidFill>
                  <a:latin typeface="Arial Black"/>
                  <a:ea typeface="Arial Black"/>
                  <a:cs typeface="Arial Black"/>
                  <a:sym typeface="Arial Black"/>
                </a:defRPr>
              </a:lvl1pPr>
            </a:lstStyle>
            <a:p>
              <a:pPr/>
              <a:r>
                <a:t>  ❖ Predefined Pointers • Analysis of the feasibility of the idea • Potential challenges and risks • Strategies for overcoming these challenges</a:t>
              </a:r>
            </a:p>
          </p:txBody>
        </p:sp>
      </p:grpSp>
      <p:grpSp>
        <p:nvGrpSpPr>
          <p:cNvPr id="221" name="Rounded Rectangle 2097158"/>
          <p:cNvGrpSpPr/>
          <p:nvPr/>
        </p:nvGrpSpPr>
        <p:grpSpPr>
          <a:xfrm>
            <a:off x="365759" y="1316736"/>
            <a:ext cx="2743201" cy="1143001"/>
            <a:chOff x="0" y="0"/>
            <a:chExt cx="2743200" cy="1143000"/>
          </a:xfrm>
        </p:grpSpPr>
        <p:sp>
          <p:nvSpPr>
            <p:cNvPr id="219" name="Rounded Rectangle"/>
            <p:cNvSpPr/>
            <p:nvPr/>
          </p:nvSpPr>
          <p:spPr>
            <a:xfrm>
              <a:off x="0" y="0"/>
              <a:ext cx="2743200" cy="11430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1524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0" name="+0.158…"/>
            <p:cNvSpPr/>
            <p:nvPr/>
          </p:nvSpPr>
          <p:spPr>
            <a:xfrm>
              <a:off x="109136" y="571500"/>
              <a:ext cx="2524928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0284C7"/>
                  </a:solidFill>
                </a:defRPr>
              </a:pPr>
              <a:r>
                <a:t>+0.158</a:t>
              </a:r>
            </a:p>
            <a:p>
              <a:pPr algn="ctr">
                <a:defRPr b="1" sz="1000">
                  <a:solidFill>
                    <a:srgbClr val="0284C7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r>
                <a:t>Brier Skill Score (BSS)</a:t>
              </a: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Verified skill improvement over 30-year climatology baseline (BS: 0.171 vs 0.203).</a:t>
              </a:r>
            </a:p>
          </p:txBody>
        </p:sp>
      </p:grpSp>
      <p:grpSp>
        <p:nvGrpSpPr>
          <p:cNvPr id="224" name="Rounded Rectangle 2097159"/>
          <p:cNvGrpSpPr/>
          <p:nvPr/>
        </p:nvGrpSpPr>
        <p:grpSpPr>
          <a:xfrm>
            <a:off x="3264408" y="1278680"/>
            <a:ext cx="2743201" cy="1219112"/>
            <a:chOff x="0" y="-27545"/>
            <a:chExt cx="2743200" cy="1219110"/>
          </a:xfrm>
        </p:grpSpPr>
        <p:sp>
          <p:nvSpPr>
            <p:cNvPr id="222" name="Rounded Rectangle"/>
            <p:cNvSpPr/>
            <p:nvPr/>
          </p:nvSpPr>
          <p:spPr>
            <a:xfrm>
              <a:off x="0" y="10509"/>
              <a:ext cx="2743200" cy="1143001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1524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3" name="0.756…"/>
            <p:cNvSpPr txBox="1"/>
            <p:nvPr/>
          </p:nvSpPr>
          <p:spPr>
            <a:xfrm>
              <a:off x="109136" y="-27546"/>
              <a:ext cx="2524928" cy="12191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10A34A"/>
                  </a:solidFill>
                </a:defRPr>
              </a:pPr>
              <a:r>
                <a:t>0.756</a:t>
              </a:r>
            </a:p>
            <a:p>
              <a:pPr algn="ctr">
                <a:defRPr b="1" sz="1000">
                  <a:solidFill>
                    <a:srgbClr val="10A34A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r>
                <a:t>ROC-AUC Score</a:t>
              </a: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Strong discriminative capability separating active wet spells from damaging dry break spells (Recall: 0.692).</a:t>
              </a:r>
            </a:p>
          </p:txBody>
        </p:sp>
      </p:grpSp>
      <p:grpSp>
        <p:nvGrpSpPr>
          <p:cNvPr id="227" name="Rounded Rectangle 2097160"/>
          <p:cNvGrpSpPr/>
          <p:nvPr/>
        </p:nvGrpSpPr>
        <p:grpSpPr>
          <a:xfrm>
            <a:off x="6163055" y="1316736"/>
            <a:ext cx="2743201" cy="1143001"/>
            <a:chOff x="0" y="0"/>
            <a:chExt cx="2743200" cy="1143000"/>
          </a:xfrm>
        </p:grpSpPr>
        <p:sp>
          <p:nvSpPr>
            <p:cNvPr id="225" name="Rounded Rectangle"/>
            <p:cNvSpPr/>
            <p:nvPr/>
          </p:nvSpPr>
          <p:spPr>
            <a:xfrm>
              <a:off x="0" y="0"/>
              <a:ext cx="2743200" cy="11430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1524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6" name="60 / 60…"/>
            <p:cNvSpPr/>
            <p:nvPr/>
          </p:nvSpPr>
          <p:spPr>
            <a:xfrm>
              <a:off x="109136" y="571500"/>
              <a:ext cx="2524928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1D4ED8"/>
                  </a:solidFill>
                </a:defRPr>
              </a:pPr>
              <a:r>
                <a:t>60 / 60</a:t>
              </a:r>
            </a:p>
            <a:p>
              <a:pPr algn="ctr">
                <a:defRPr b="1" sz="1000">
                  <a:solidFill>
                    <a:srgbClr val="1D4ED8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r>
                <a:t>Backend Tests Passed</a:t>
              </a: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100% Pytest pass rate across API contracts, ML inference, crop rules &amp; i18n integrity.</a:t>
              </a:r>
            </a:p>
          </p:txBody>
        </p:sp>
      </p:grpSp>
      <p:grpSp>
        <p:nvGrpSpPr>
          <p:cNvPr id="230" name="Rounded Rectangle 2097161"/>
          <p:cNvGrpSpPr/>
          <p:nvPr/>
        </p:nvGrpSpPr>
        <p:grpSpPr>
          <a:xfrm>
            <a:off x="9061704" y="1278680"/>
            <a:ext cx="2743201" cy="1219112"/>
            <a:chOff x="0" y="-27545"/>
            <a:chExt cx="2743200" cy="1219110"/>
          </a:xfrm>
        </p:grpSpPr>
        <p:sp>
          <p:nvSpPr>
            <p:cNvPr id="228" name="Rounded Rectangle"/>
            <p:cNvSpPr/>
            <p:nvPr/>
          </p:nvSpPr>
          <p:spPr>
            <a:xfrm>
              <a:off x="0" y="10509"/>
              <a:ext cx="2743200" cy="1143001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1524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9" name="42 / 42…"/>
            <p:cNvSpPr txBox="1"/>
            <p:nvPr/>
          </p:nvSpPr>
          <p:spPr>
            <a:xfrm>
              <a:off x="109136" y="-27546"/>
              <a:ext cx="2524928" cy="12191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EA580C"/>
                  </a:solidFill>
                </a:defRPr>
              </a:pPr>
              <a:r>
                <a:t>42 / 42</a:t>
              </a:r>
            </a:p>
            <a:p>
              <a:pPr algn="ctr">
                <a:defRPr b="1" sz="1000">
                  <a:solidFill>
                    <a:srgbClr val="EA580C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r>
                <a:t>Mobile Audit Passed</a:t>
              </a:r>
            </a:p>
            <a:p>
              <a:pPr>
                <a:defRPr b="1" sz="1000">
                  <a:solidFill>
                    <a:srgbClr val="0F172A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100% responsive pass rate across 6 viewport resolutions (320px–1440px) and all 7 languages.</a:t>
              </a:r>
            </a:p>
          </p:txBody>
        </p:sp>
      </p:grpSp>
      <p:grpSp>
        <p:nvGrpSpPr>
          <p:cNvPr id="233" name="Rounded Rectangle 2097162"/>
          <p:cNvGrpSpPr/>
          <p:nvPr/>
        </p:nvGrpSpPr>
        <p:grpSpPr>
          <a:xfrm>
            <a:off x="365759" y="2542032"/>
            <a:ext cx="4389122" cy="3337560"/>
            <a:chOff x="0" y="0"/>
            <a:chExt cx="4389120" cy="3337559"/>
          </a:xfrm>
        </p:grpSpPr>
        <p:sp>
          <p:nvSpPr>
            <p:cNvPr id="231" name="Rounded Rectangle"/>
            <p:cNvSpPr/>
            <p:nvPr/>
          </p:nvSpPr>
          <p:spPr>
            <a:xfrm>
              <a:off x="0" y="0"/>
              <a:ext cx="4389121" cy="333756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1524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2" name="MODEL VALIDATION &amp; ZERO LEAKAGE POLICY:…"/>
            <p:cNvSpPr txBox="1"/>
            <p:nvPr/>
          </p:nvSpPr>
          <p:spPr>
            <a:xfrm>
              <a:off x="216266" y="195624"/>
              <a:ext cx="3956588" cy="2946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0284C7"/>
                  </a:solidFill>
                </a:defRPr>
              </a:pPr>
              <a:r>
                <a:t>MODEL VALIDATION &amp; ZERO LEAKAGE POLICY:</a:t>
              </a:r>
            </a:p>
            <a:p>
              <a:pPr algn="ctr">
                <a:defRPr b="1" sz="1000">
                  <a:solidFill>
                    <a:srgbClr val="0284C7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t>• Chronological Train/Test Split: </a:t>
              </a:r>
              <a:r>
                <a:rPr b="0">
                  <a:solidFill>
                    <a:srgbClr val="334155"/>
                  </a:solidFill>
                </a:rPr>
                <a:t>Strict temporal partition without k-fold leakage.</a:t>
              </a:r>
              <a:endParaRPr b="0">
                <a:solidFill>
                  <a:srgbClr val="334155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Train Set: 2015–2022 (2,922 daily observed records)</a:t>
              </a:r>
              <a:endParaRPr b="0">
                <a:solidFill>
                  <a:srgbClr val="334155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Test Set: 2023–2025 (1,096 daily unseen records)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t>• Zero Temporal Leakage Policy: </a:t>
              </a:r>
              <a:r>
                <a:rPr b="0">
                  <a:solidFill>
                    <a:srgbClr val="334155"/>
                  </a:solidFill>
                </a:rPr>
                <a:t>Standard random cross-validation allows future atmospheric states to leak into past predictions. VarshaSetu strictly evaluates on out-of-sample forward horizons.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t>• Verified Candidate Metrics: </a:t>
              </a:r>
              <a:r>
                <a:rPr b="0">
                  <a:solidFill>
                    <a:srgbClr val="334155"/>
                  </a:solidFill>
                </a:rPr>
                <a:t>• Brier Score: 0.171 (vs 0.203 Climatology Baseline)</a:t>
              </a:r>
              <a:endParaRPr b="0">
                <a:solidFill>
                  <a:srgbClr val="334155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ROC-AUC: 0.756 | Precision: 0.621 | Recall: 0.692</a:t>
              </a:r>
              <a:endParaRPr b="0">
                <a:solidFill>
                  <a:srgbClr val="334155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F1-Score: 0.655 for rare damaging break spell events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t>• Zero Cost Burden on Farmers: </a:t>
              </a:r>
              <a:r>
                <a:rPr b="0">
                  <a:solidFill>
                    <a:srgbClr val="334155"/>
                  </a:solidFill>
                </a:rPr>
                <a:t>Lightweight browser execution requiring no high-end devices, app store downloads, or paid farmer subscriptions.</a:t>
              </a:r>
            </a:p>
          </p:txBody>
        </p:sp>
      </p:grpSp>
      <p:grpSp>
        <p:nvGrpSpPr>
          <p:cNvPr id="236" name="Rounded Rectangle 2097163"/>
          <p:cNvGrpSpPr/>
          <p:nvPr/>
        </p:nvGrpSpPr>
        <p:grpSpPr>
          <a:xfrm>
            <a:off x="4919471" y="2542032"/>
            <a:ext cx="6903721" cy="3337560"/>
            <a:chOff x="0" y="0"/>
            <a:chExt cx="6903719" cy="3337559"/>
          </a:xfrm>
        </p:grpSpPr>
        <p:sp>
          <p:nvSpPr>
            <p:cNvPr id="234" name="Rounded Rectangle"/>
            <p:cNvSpPr/>
            <p:nvPr/>
          </p:nvSpPr>
          <p:spPr>
            <a:xfrm>
              <a:off x="0" y="0"/>
              <a:ext cx="6903720" cy="33375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524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5" name="ENGINEERING FEASIBILITY, TRANSPARENCY &amp; INTEGRATION ROADMAP:…"/>
            <p:cNvSpPr txBox="1"/>
            <p:nvPr/>
          </p:nvSpPr>
          <p:spPr>
            <a:xfrm>
              <a:off x="216266" y="457303"/>
              <a:ext cx="6471188" cy="26464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000">
                  <a:solidFill>
                    <a:srgbClr val="1D4ED8"/>
                  </a:solidFill>
                </a:defRPr>
              </a:pPr>
              <a:r>
                <a:t>ENGINEERING FEASIBILITY, TRANSPARENCY &amp; INTEGRATION ROADMAP: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500"/>
                </a:spcBef>
                <a:defRPr b="1" sz="1000">
                  <a:solidFill>
                    <a:srgbClr val="10A34A"/>
                  </a:solidFill>
                </a:defRPr>
              </a:pPr>
              <a:r>
                <a:t>CURRENTLY IMPLEMENTED (Working Prototype):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✓ </a:t>
              </a:r>
              <a:r>
                <a:t>Physics-informed ML forecasting (7, 14, 21, 30 days)  | 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✓ </a:t>
              </a:r>
              <a:r>
                <a:t>Live NOAA CPC ENSO ONI connector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✓ </a:t>
              </a:r>
              <a:r>
                <a:t>Interactive Leaflet risk mapping (isochrones &amp; radar)  | 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✓ </a:t>
              </a:r>
              <a:r>
                <a:t>ICAR-CRIDA stage rules for 6 Kharif crops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✓ </a:t>
              </a:r>
              <a:r>
                <a:t>Contingent short-duration cultivars  | 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✓ </a:t>
              </a:r>
              <a:r>
                <a:t>7 Indian languages with native Urdu RTL  | 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✓ </a:t>
              </a:r>
              <a:r>
                <a:t>Web Speech audio TTS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rPr>
                  <a:latin typeface="+mj-lt"/>
                  <a:ea typeface="+mj-ea"/>
                  <a:cs typeface="+mj-cs"/>
                  <a:sym typeface="Helvetica"/>
                </a:rPr>
                <a:t>✓ </a:t>
              </a:r>
              <a:r>
                <a:t>Dual Farmer &amp; Extension Officer workflows  | 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✓ </a:t>
              </a:r>
              <a:r>
                <a:t>SQLite transmission audit logging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500"/>
                </a:spcBef>
                <a:defRPr b="1" sz="1000">
                  <a:solidFill>
                    <a:srgbClr val="D97706"/>
                  </a:solidFill>
                </a:defRPr>
              </a:pPr>
              <a:r>
                <a:t>CURRENT ENGINEERING LIMITATION (Radical Transparency):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Operational NCMRWF ERPS upper-air gridded data socket requires institutional MoES security credentials.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Current Prototype Solution: Gracefully utilizes statistically calibrated climatological benchmark distributions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  for 850 hPa wind and satellite OLR, transparently disclosed as [CONFIGURED BENCHMARK] in UI.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500"/>
                </a:spcBef>
                <a:defRPr b="1" sz="1000">
                  <a:solidFill>
                    <a:srgbClr val="1D4ED8"/>
                  </a:solidFill>
                </a:defRPr>
              </a:pPr>
              <a:r>
                <a:t>FUTURE INTEGRATION ROADMAP (Deployment Readiness):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Live NCMRWF Feed Integration: Plug-and-play architecture ready for NCMRWF NEPS 12km ensemble stream.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Production Telecom Gateway: Sandbox payload generator ready for State portals (e.g. Rythu Bharosa SMS).</a:t>
              </a:r>
            </a:p>
            <a:p>
              <a:pPr>
                <a:defRPr sz="1000">
                  <a:solidFill>
                    <a:srgbClr val="334155"/>
                  </a:solidFill>
                </a:defRPr>
              </a:pPr>
              <a:r>
                <a:t>• Multi-State Rollout: Pluggable ICAR-CRIDA rules support seamless expansion to Maharashtra, MP, and Karnataka.</a:t>
              </a:r>
            </a:p>
          </p:txBody>
        </p:sp>
      </p:grpSp>
      <p:grpSp>
        <p:nvGrpSpPr>
          <p:cNvPr id="239" name="Rounded Rectangle 2097164"/>
          <p:cNvGrpSpPr/>
          <p:nvPr/>
        </p:nvGrpSpPr>
        <p:grpSpPr>
          <a:xfrm>
            <a:off x="365759" y="5943600"/>
            <a:ext cx="11457433" cy="347473"/>
            <a:chOff x="0" y="0"/>
            <a:chExt cx="11457431" cy="347472"/>
          </a:xfrm>
        </p:grpSpPr>
        <p:sp>
          <p:nvSpPr>
            <p:cNvPr id="237" name="Rounded Rectangle"/>
            <p:cNvSpPr/>
            <p:nvPr/>
          </p:nvSpPr>
          <p:spPr>
            <a:xfrm>
              <a:off x="0" y="0"/>
              <a:ext cx="11457432" cy="347473"/>
            </a:xfrm>
            <a:prstGeom prst="roundRect">
              <a:avLst>
                <a:gd name="adj" fmla="val 16667"/>
              </a:avLst>
            </a:prstGeom>
            <a:solidFill>
              <a:srgbClr val="0F172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8" name="MATURITY CONTINUUM:  Prototype (Verified)  ➔  Pilot (Target Catchments)  ➔  Operational Integration (MoES/NCMRWF Aligned)"/>
            <p:cNvSpPr txBox="1"/>
            <p:nvPr/>
          </p:nvSpPr>
          <p:spPr>
            <a:xfrm>
              <a:off x="62681" y="63499"/>
              <a:ext cx="11332070" cy="2204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800">
                  <a:solidFill>
                    <a:srgbClr val="FDE047"/>
                  </a:solidFill>
                </a:defRPr>
              </a:pPr>
              <a:r>
                <a:t>MATURITY CONTINUUM:  Prototype (Verified) 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 </a:t>
              </a:r>
              <a:r>
                <a:t>Pilot (Target Catchments) 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 </a:t>
              </a:r>
              <a:r>
                <a:t>Operational Integration (MoES/NCMRWF Aligned)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242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400"/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243" name="Title 1"/>
          <p:cNvSpPr txBox="1"/>
          <p:nvPr>
            <p:ph type="title"/>
          </p:nvPr>
        </p:nvSpPr>
        <p:spPr>
          <a:xfrm>
            <a:off x="1346200" y="-21784"/>
            <a:ext cx="8001000" cy="777241"/>
          </a:xfrm>
          <a:prstGeom prst="rect">
            <a:avLst/>
          </a:prstGeom>
        </p:spPr>
        <p:txBody>
          <a:bodyPr/>
          <a:lstStyle>
            <a:lvl1pPr algn="l">
              <a:defRPr b="1" sz="2000">
                <a:solidFill>
                  <a:srgbClr val="0F172A"/>
                </a:solidFill>
              </a:defRPr>
            </a:lvl1pPr>
          </a:lstStyle>
          <a:p>
            <a:pPr/>
            <a:r>
              <a:t>IMPACT AND BENEFITS</a:t>
            </a:r>
          </a:p>
        </p:txBody>
      </p:sp>
      <p:sp>
        <p:nvSpPr>
          <p:cNvPr id="244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47" name="Oval 11"/>
          <p:cNvGrpSpPr/>
          <p:nvPr/>
        </p:nvGrpSpPr>
        <p:grpSpPr>
          <a:xfrm>
            <a:off x="45292" y="58614"/>
            <a:ext cx="1251859" cy="807335"/>
            <a:chOff x="0" y="0"/>
            <a:chExt cx="1251857" cy="807334"/>
          </a:xfrm>
        </p:grpSpPr>
        <p:sp>
          <p:nvSpPr>
            <p:cNvPr id="245" name="Oval"/>
            <p:cNvSpPr/>
            <p:nvPr/>
          </p:nvSpPr>
          <p:spPr>
            <a:xfrm>
              <a:off x="0" y="-1"/>
              <a:ext cx="1251858" cy="807336"/>
            </a:xfrm>
            <a:prstGeom prst="ellipse">
              <a:avLst/>
            </a:prstGeom>
            <a:solidFill>
              <a:srgbClr val="FFFFFF"/>
            </a:solidFill>
            <a:ln w="19050" cap="flat">
              <a:solidFill>
                <a:srgbClr val="0B6B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46" name="TITANS"/>
            <p:cNvSpPr txBox="1"/>
            <p:nvPr/>
          </p:nvSpPr>
          <p:spPr>
            <a:xfrm>
              <a:off x="238574" y="274566"/>
              <a:ext cx="774708" cy="258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0B6BBA"/>
                  </a:solidFill>
                </a:defRPr>
              </a:lvl1pPr>
            </a:lstStyle>
            <a:p>
              <a:pPr/>
              <a:r>
                <a:t>TITANS</a:t>
              </a:r>
            </a:p>
          </p:txBody>
        </p:sp>
      </p:grpSp>
      <p:pic>
        <p:nvPicPr>
          <p:cNvPr id="24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16589" y="-1467"/>
            <a:ext cx="1964279" cy="9274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1" name="Rounded Rectangle 2097158"/>
          <p:cNvGrpSpPr/>
          <p:nvPr/>
        </p:nvGrpSpPr>
        <p:grpSpPr>
          <a:xfrm>
            <a:off x="606428" y="900709"/>
            <a:ext cx="10979143" cy="315443"/>
            <a:chOff x="0" y="0"/>
            <a:chExt cx="10979142" cy="315442"/>
          </a:xfrm>
        </p:grpSpPr>
        <p:sp>
          <p:nvSpPr>
            <p:cNvPr id="249" name="Rounded Rectangle"/>
            <p:cNvSpPr/>
            <p:nvPr/>
          </p:nvSpPr>
          <p:spPr>
            <a:xfrm>
              <a:off x="0" y="0"/>
              <a:ext cx="10979142" cy="315443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12700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0" name="❖ Predefined Pointers • Potential impact on the target audience • Benefits of the solution (social, economic, environmental, etc.)"/>
            <p:cNvSpPr txBox="1"/>
            <p:nvPr/>
          </p:nvSpPr>
          <p:spPr>
            <a:xfrm>
              <a:off x="65294" y="5246"/>
              <a:ext cx="10415817" cy="2581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>
                <a:defRPr sz="800">
                  <a:solidFill>
                    <a:srgbClr val="334155"/>
                  </a:solidFill>
                  <a:latin typeface="Arial Black"/>
                  <a:ea typeface="Arial Black"/>
                  <a:cs typeface="Arial Black"/>
                  <a:sym typeface="Arial Black"/>
                </a:defRPr>
              </a:lvl1pPr>
            </a:lstStyle>
            <a:p>
              <a:pPr/>
              <a:r>
                <a:t>  ❖ Predefined Pointers • Potential impact on the target audience • Benefits of the solution (social, economic, environmental, etc.)</a:t>
              </a:r>
            </a:p>
          </p:txBody>
        </p:sp>
      </p:grpSp>
      <p:grpSp>
        <p:nvGrpSpPr>
          <p:cNvPr id="254" name="Rounded Rectangle 2097159"/>
          <p:cNvGrpSpPr/>
          <p:nvPr/>
        </p:nvGrpSpPr>
        <p:grpSpPr>
          <a:xfrm>
            <a:off x="365759" y="1316736"/>
            <a:ext cx="3675888" cy="4526280"/>
            <a:chOff x="0" y="0"/>
            <a:chExt cx="3675886" cy="4526279"/>
          </a:xfrm>
        </p:grpSpPr>
        <p:sp>
          <p:nvSpPr>
            <p:cNvPr id="252" name="Rounded Rectangle"/>
            <p:cNvSpPr/>
            <p:nvPr/>
          </p:nvSpPr>
          <p:spPr>
            <a:xfrm>
              <a:off x="0" y="0"/>
              <a:ext cx="3675887" cy="452628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1524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3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3" name="FARMERS:  KNOW ➔ DECIDE ➔ ACT…"/>
            <p:cNvSpPr txBox="1"/>
            <p:nvPr/>
          </p:nvSpPr>
          <p:spPr>
            <a:xfrm>
              <a:off x="232782" y="101471"/>
              <a:ext cx="3210323" cy="43233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100">
                  <a:solidFill>
                    <a:srgbClr val="10A34A"/>
                  </a:solidFill>
                </a:defRPr>
              </a:pPr>
              <a:r>
                <a:t>FARMERS:  KNOW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</a:t>
              </a:r>
              <a:r>
                <a:t>DECIDE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</a:t>
              </a:r>
              <a:r>
                <a:t>ACT</a:t>
              </a:r>
            </a:p>
            <a:p>
              <a:pPr algn="ctr">
                <a:defRPr b="1" sz="1100">
                  <a:solidFill>
                    <a:srgbClr val="10A34A"/>
                  </a:solidFill>
                </a:defRPr>
              </a:pPr>
              <a:r>
                <a:rPr>
                  <a:solidFill>
                    <a:srgbClr val="0F172A"/>
                  </a:solidFill>
                </a:rPr>
                <a:t>Micro-Level Actionable Field Directives</a:t>
              </a:r>
              <a:endParaRPr>
                <a:solidFill>
                  <a:srgbClr val="0F172A"/>
                </a:solidFill>
              </a:endParaRPr>
            </a:p>
            <a:p>
              <a:pPr algn="ctr">
                <a:defRPr b="1" sz="1100">
                  <a:solidFill>
                    <a:srgbClr val="10A34A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Onset Uncertainty Awareness: </a:t>
              </a:r>
              <a:r>
                <a:rPr b="0">
                  <a:solidFill>
                    <a:srgbClr val="334155"/>
                  </a:solidFill>
                </a:rPr>
                <a:t>Prepares nursery and seedbed with thermodynamic confidence instead of speculative sowing.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Break-Spell Risk Awareness: </a:t>
              </a:r>
              <a:r>
                <a:rPr b="0">
                  <a:solidFill>
                    <a:srgbClr val="334155"/>
                  </a:solidFill>
                </a:rPr>
                <a:t>Avoids sowing directly before a 10-day dry spell, helping reduce re-sowing risk.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Heavy-Rain Precautions: </a:t>
              </a:r>
              <a:r>
                <a:rPr b="0">
                  <a:solidFill>
                    <a:srgbClr val="334155"/>
                  </a:solidFill>
                </a:rPr>
                <a:t>Protects freshly applied fertilizers from leaching; opens drainage furrows to prevent seedling submergence.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Crop-Specific Sowing Gates: </a:t>
              </a:r>
              <a:r>
                <a:rPr b="0">
                  <a:solidFill>
                    <a:srgbClr val="334155"/>
                  </a:solidFill>
                </a:rPr>
                <a:t>Moisture saturation minimums tailored to Paddy (70%), Cotton (60%), Groundnut (50%).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Informed Irrigation Timing: </a:t>
              </a:r>
              <a:r>
                <a:rPr b="0">
                  <a:solidFill>
                    <a:srgbClr val="334155"/>
                  </a:solidFill>
                </a:rPr>
                <a:t>Maximizes natural rainfall utilization; schedules life-saving protective irrigation only when necessary.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Contingency Cultivar Choices: </a:t>
              </a:r>
              <a:r>
                <a:rPr b="0">
                  <a:solidFill>
                    <a:srgbClr val="334155"/>
                  </a:solidFill>
                </a:rPr>
                <a:t>Suggests short-duration varieties (e.g. Telangana Sona RNR 15048) if onset is delayed &gt;14 days.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Vernacular Voice Access: </a:t>
              </a:r>
              <a:r>
                <a:rPr b="0">
                  <a:solidFill>
                    <a:srgbClr val="334155"/>
                  </a:solidFill>
                </a:rPr>
                <a:t>Illiterate and marginal farmers listen to advisories via one-tap Web Speech audio TTS in native dialect.</a:t>
              </a:r>
            </a:p>
          </p:txBody>
        </p:sp>
      </p:grpSp>
      <p:grpSp>
        <p:nvGrpSpPr>
          <p:cNvPr id="257" name="Rounded Rectangle 2097160"/>
          <p:cNvGrpSpPr/>
          <p:nvPr/>
        </p:nvGrpSpPr>
        <p:grpSpPr>
          <a:xfrm>
            <a:off x="4251959" y="1316736"/>
            <a:ext cx="3675888" cy="4526280"/>
            <a:chOff x="0" y="0"/>
            <a:chExt cx="3675886" cy="4526279"/>
          </a:xfrm>
        </p:grpSpPr>
        <p:sp>
          <p:nvSpPr>
            <p:cNvPr id="255" name="Rounded Rectangle"/>
            <p:cNvSpPr/>
            <p:nvPr/>
          </p:nvSpPr>
          <p:spPr>
            <a:xfrm>
              <a:off x="0" y="0"/>
              <a:ext cx="3675887" cy="452628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1524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3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6" name="EXTENSION OFFICERS:  SEE ➔ PRIORITIZE ➔ COMMUNICATE…"/>
            <p:cNvSpPr txBox="1"/>
            <p:nvPr/>
          </p:nvSpPr>
          <p:spPr>
            <a:xfrm>
              <a:off x="232781" y="18921"/>
              <a:ext cx="3210324" cy="44884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100">
                  <a:solidFill>
                    <a:srgbClr val="0284C7"/>
                  </a:solidFill>
                </a:defRPr>
              </a:pPr>
              <a:r>
                <a:t>EXTENSION OFFICERS:  SEE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</a:t>
              </a:r>
              <a:r>
                <a:t>PRIORITIZE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</a:t>
              </a:r>
              <a:r>
                <a:t>COMMUNICATE</a:t>
              </a:r>
            </a:p>
            <a:p>
              <a:pPr algn="ctr">
                <a:defRPr b="1" sz="1100">
                  <a:solidFill>
                    <a:srgbClr val="0284C7"/>
                  </a:solidFill>
                </a:defRPr>
              </a:pPr>
              <a:r>
                <a:rPr>
                  <a:solidFill>
                    <a:srgbClr val="0F172A"/>
                  </a:solidFill>
                </a:rPr>
                <a:t>Mandal-Scale Tactical Oversight &amp; Coordination</a:t>
              </a:r>
              <a:endParaRPr>
                <a:solidFill>
                  <a:srgbClr val="0F172A"/>
                </a:solidFill>
              </a:endParaRPr>
            </a:p>
            <a:p>
              <a:pPr algn="ctr">
                <a:defRPr b="1" sz="1100">
                  <a:solidFill>
                    <a:srgbClr val="0284C7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Spatial Risk Visualization: </a:t>
              </a:r>
              <a:r>
                <a:rPr b="0">
                  <a:solidFill>
                    <a:srgbClr val="334155"/>
                  </a:solidFill>
                </a:rPr>
                <a:t>Evaluates composite vulnerability clusters (Low to Severe) across 10–20 adjoining Panchayats simultaneously.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Block/Mandal Aggregates: </a:t>
              </a:r>
              <a:r>
                <a:rPr b="0">
                  <a:solidFill>
                    <a:srgbClr val="334155"/>
                  </a:solidFill>
                </a:rPr>
                <a:t>Synthesizes regional rainfall anomalies and dry spell duration for proactive administrative intervention.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Standardized Crop Intelligence: </a:t>
              </a:r>
              <a:r>
                <a:rPr b="0">
                  <a:solidFill>
                    <a:srgbClr val="334155"/>
                  </a:solidFill>
                </a:rPr>
                <a:t>Harmonizes ICAR-CRIDA agronomic guidance across Krishi Vigyan Kendras (KVKs) and field workers.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Contingency Seed Mobilization: </a:t>
              </a:r>
              <a:r>
                <a:rPr b="0">
                  <a:solidFill>
                    <a:srgbClr val="334155"/>
                  </a:solidFill>
                </a:rPr>
                <a:t>Prepositions buffer stocks of drought-resilient alternative seeds ahead of forecast break spells.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Input Supply Synchronization: </a:t>
              </a:r>
              <a:r>
                <a:rPr b="0">
                  <a:solidFill>
                    <a:srgbClr val="334155"/>
                  </a:solidFill>
                </a:rPr>
                <a:t>Directs Primary Agricultural Credit Societies (PACS) to schedule subsidized fertilizer release around heavy rain.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Targeted Messaging Workflow: </a:t>
              </a:r>
              <a:r>
                <a:rPr b="0">
                  <a:solidFill>
                    <a:srgbClr val="334155"/>
                  </a:solidFill>
                </a:rPr>
                <a:t>Dispatches localized mobile alerts to specific village farming groups via simulated gateway.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100">
                  <a:solidFill>
                    <a:srgbClr val="0F172A"/>
                  </a:solidFill>
                </a:defRPr>
              </a:pPr>
              <a:r>
                <a:t>• Audit Accountability: </a:t>
              </a:r>
              <a:r>
                <a:rPr b="0">
                  <a:solidFill>
                    <a:srgbClr val="334155"/>
                  </a:solidFill>
                </a:rPr>
                <a:t>Maintains transparent SQLite records of dispatch history, delivery status, and timestamps.</a:t>
              </a:r>
            </a:p>
          </p:txBody>
        </p:sp>
      </p:grpSp>
      <p:grpSp>
        <p:nvGrpSpPr>
          <p:cNvPr id="260" name="Rounded Rectangle 2097161"/>
          <p:cNvGrpSpPr/>
          <p:nvPr/>
        </p:nvGrpSpPr>
        <p:grpSpPr>
          <a:xfrm>
            <a:off x="8138159" y="1079772"/>
            <a:ext cx="3788708" cy="5000208"/>
            <a:chOff x="0" y="-167503"/>
            <a:chExt cx="3788706" cy="5000206"/>
          </a:xfrm>
        </p:grpSpPr>
        <p:sp>
          <p:nvSpPr>
            <p:cNvPr id="258" name="Rounded Rectangle"/>
            <p:cNvSpPr/>
            <p:nvPr/>
          </p:nvSpPr>
          <p:spPr>
            <a:xfrm>
              <a:off x="0" y="0"/>
              <a:ext cx="3788707" cy="4665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1524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4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9" name="SYSTEM &amp; SOCIETY:  TRIPLE IMPACT PILLARS…"/>
            <p:cNvSpPr txBox="1"/>
            <p:nvPr/>
          </p:nvSpPr>
          <p:spPr>
            <a:xfrm>
              <a:off x="239926" y="-167504"/>
              <a:ext cx="3308854" cy="5000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000">
                  <a:solidFill>
                    <a:srgbClr val="1D4ED8"/>
                  </a:solidFill>
                </a:defRPr>
              </a:pPr>
              <a:r>
                <a:t>SYSTEM &amp; SOCIETY:  TRIPLE IMPACT PILLARS</a:t>
              </a:r>
            </a:p>
            <a:p>
              <a:pPr algn="ctr">
                <a:defRPr b="1" sz="1000">
                  <a:solidFill>
                    <a:srgbClr val="1D4ED8"/>
                  </a:solidFill>
                </a:defRPr>
              </a:pPr>
              <a:r>
                <a:rPr>
                  <a:solidFill>
                    <a:srgbClr val="0F172A"/>
                  </a:solidFill>
                </a:rPr>
                <a:t>Social, Economic &amp; Environmental Value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t>SOCIAL INCLUSIVITY:</a:t>
              </a: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7 regional languages (English, Telugu, Hindi, Tamil, Kannada, Urdu, Malayalam) with 231 keys each.</a:t>
              </a:r>
              <a:endParaRPr b="0">
                <a:solidFill>
                  <a:srgbClr val="334155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Native Urdu RTL layout transformation and Nastaliq typography.</a:t>
              </a:r>
              <a:endParaRPr b="0">
                <a:solidFill>
                  <a:srgbClr val="334155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Web Speech API TTS delivers audio to illiterate smallholders.</a:t>
              </a:r>
              <a:endParaRPr b="0">
                <a:solidFill>
                  <a:srgbClr val="334155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Mobile-first web access operates on basic smartphone browsers without requiring paid app downloads.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t>ECONOMIC RESILIENCE:</a:t>
              </a: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Supports optimal timing of seed sowing, irrigation cycles, and fertilizer application.</a:t>
              </a:r>
              <a:endParaRPr b="0">
                <a:solidFill>
                  <a:srgbClr val="334155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Helps manage avoidable re-sowing risk through 10–14 day break-spell awareness.</a:t>
              </a:r>
              <a:endParaRPr b="0">
                <a:solidFill>
                  <a:srgbClr val="334155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Promotes low-cost contingency cultivars to salvage late-onset seasons.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t>ENVIRONMENTAL SUSTAINABILITY:</a:t>
              </a: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Fertilizer precautions around heavy-rain risk prevent chemical runoff into rural water bodies.</a:t>
              </a:r>
              <a:endParaRPr b="0">
                <a:solidFill>
                  <a:srgbClr val="334155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Informed irrigation timing conserves valuable groundwater reserves.</a:t>
              </a:r>
              <a:endParaRPr b="0">
                <a:solidFill>
                  <a:srgbClr val="334155"/>
                </a:solidFill>
              </a:endParaRPr>
            </a:p>
            <a:p>
              <a:pPr>
                <a:spcBef>
                  <a:spcPts val="400"/>
                </a:spcBef>
                <a:defRPr b="1" sz="1000">
                  <a:solidFill>
                    <a:srgbClr val="0F172A"/>
                  </a:solidFill>
                </a:defRPr>
              </a:pPr>
              <a:r>
                <a:rPr b="0">
                  <a:solidFill>
                    <a:srgbClr val="334155"/>
                  </a:solidFill>
                </a:rPr>
                <a:t>• Fosters climate-resilient crop selection adapted to S2S rainfall variability.</a:t>
              </a:r>
            </a:p>
          </p:txBody>
        </p:sp>
      </p:grpSp>
      <p:grpSp>
        <p:nvGrpSpPr>
          <p:cNvPr id="263" name="Rounded Rectangle 2097162"/>
          <p:cNvGrpSpPr/>
          <p:nvPr/>
        </p:nvGrpSpPr>
        <p:grpSpPr>
          <a:xfrm>
            <a:off x="365759" y="5943600"/>
            <a:ext cx="11457433" cy="347473"/>
            <a:chOff x="0" y="0"/>
            <a:chExt cx="11457431" cy="347472"/>
          </a:xfrm>
        </p:grpSpPr>
        <p:sp>
          <p:nvSpPr>
            <p:cNvPr id="261" name="Rounded Rectangle"/>
            <p:cNvSpPr/>
            <p:nvPr/>
          </p:nvSpPr>
          <p:spPr>
            <a:xfrm>
              <a:off x="0" y="0"/>
              <a:ext cx="11457432" cy="347473"/>
            </a:xfrm>
            <a:prstGeom prst="roundRect">
              <a:avLst>
                <a:gd name="adj" fmla="val 16667"/>
              </a:avLst>
            </a:prstGeom>
            <a:solidFill>
              <a:srgbClr val="0F172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2" name="EVIDENCE STRIP:  WORKING PROTOTYPE  |  60/60 BACKEND TESTS  |  42/42 MOBILE AUDITS  |  7 LANGUAGES  |  PROBABILISTIC S2S ML  |  HYPERLOCAL GIS"/>
            <p:cNvSpPr txBox="1"/>
            <p:nvPr/>
          </p:nvSpPr>
          <p:spPr>
            <a:xfrm>
              <a:off x="62681" y="75727"/>
              <a:ext cx="11332069" cy="1960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EVIDENCE STRIP:  WORKING PROTOTYPE  |  60/60 BACKEND TESTS  |  42/42 MOBILE AUDITS  |  7 LANGUAGES  |  PROBABILISTIC S2S ML  |  HYPERLOCAL GIS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Footer Placeholder 6"/>
          <p:cNvSpPr txBox="1"/>
          <p:nvPr/>
        </p:nvSpPr>
        <p:spPr>
          <a:xfrm>
            <a:off x="4693920" y="6404295"/>
            <a:ext cx="31125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266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400"/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267" name="Title 1"/>
          <p:cNvSpPr txBox="1"/>
          <p:nvPr>
            <p:ph type="title"/>
          </p:nvPr>
        </p:nvSpPr>
        <p:spPr>
          <a:xfrm>
            <a:off x="1382137" y="-139028"/>
            <a:ext cx="8001001" cy="777241"/>
          </a:xfrm>
          <a:prstGeom prst="rect">
            <a:avLst/>
          </a:prstGeom>
        </p:spPr>
        <p:txBody>
          <a:bodyPr/>
          <a:lstStyle>
            <a:lvl1pPr algn="l">
              <a:defRPr b="1" sz="2000">
                <a:solidFill>
                  <a:srgbClr val="0F172A"/>
                </a:solidFill>
              </a:defRPr>
            </a:lvl1pPr>
          </a:lstStyle>
          <a:p>
            <a:pPr/>
            <a:r>
              <a:t>RESEARCH  AND REFERENCES</a:t>
            </a:r>
          </a:p>
        </p:txBody>
      </p:sp>
      <p:sp>
        <p:nvSpPr>
          <p:cNvPr id="268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71" name="Oval 8"/>
          <p:cNvGrpSpPr/>
          <p:nvPr/>
        </p:nvGrpSpPr>
        <p:grpSpPr>
          <a:xfrm>
            <a:off x="95123" y="56298"/>
            <a:ext cx="1251859" cy="807335"/>
            <a:chOff x="0" y="0"/>
            <a:chExt cx="1251857" cy="807334"/>
          </a:xfrm>
        </p:grpSpPr>
        <p:sp>
          <p:nvSpPr>
            <p:cNvPr id="269" name="Oval"/>
            <p:cNvSpPr/>
            <p:nvPr/>
          </p:nvSpPr>
          <p:spPr>
            <a:xfrm>
              <a:off x="0" y="-1"/>
              <a:ext cx="1251858" cy="807336"/>
            </a:xfrm>
            <a:prstGeom prst="ellipse">
              <a:avLst/>
            </a:prstGeom>
            <a:solidFill>
              <a:srgbClr val="FFFFFF"/>
            </a:solidFill>
            <a:ln w="19050" cap="flat">
              <a:solidFill>
                <a:srgbClr val="0B6B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70" name="TITANS"/>
            <p:cNvSpPr txBox="1"/>
            <p:nvPr/>
          </p:nvSpPr>
          <p:spPr>
            <a:xfrm>
              <a:off x="238574" y="274566"/>
              <a:ext cx="774709" cy="258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0B6BBA"/>
                  </a:solidFill>
                </a:defRPr>
              </a:lvl1pPr>
            </a:lstStyle>
            <a:p>
              <a:pPr/>
              <a:r>
                <a:t>TITANS</a:t>
              </a:r>
            </a:p>
          </p:txBody>
        </p:sp>
      </p:grpSp>
      <p:pic>
        <p:nvPicPr>
          <p:cNvPr id="272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67749" y="16723"/>
            <a:ext cx="1709798" cy="80733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5" name="Rounded Rectangle 2097159"/>
          <p:cNvGrpSpPr/>
          <p:nvPr/>
        </p:nvGrpSpPr>
        <p:grpSpPr>
          <a:xfrm>
            <a:off x="1387596" y="525398"/>
            <a:ext cx="10136461" cy="298660"/>
            <a:chOff x="0" y="0"/>
            <a:chExt cx="10136459" cy="298659"/>
          </a:xfrm>
        </p:grpSpPr>
        <p:sp>
          <p:nvSpPr>
            <p:cNvPr id="273" name="Rounded Rectangle"/>
            <p:cNvSpPr/>
            <p:nvPr/>
          </p:nvSpPr>
          <p:spPr>
            <a:xfrm>
              <a:off x="0" y="0"/>
              <a:ext cx="6441901" cy="29866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12700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4" name="❖ Predefined Pointers • Details / Links of the reference and research work"/>
            <p:cNvSpPr txBox="1"/>
            <p:nvPr/>
          </p:nvSpPr>
          <p:spPr>
            <a:xfrm>
              <a:off x="22889" y="49314"/>
              <a:ext cx="10113571" cy="2000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>
                <a:defRPr sz="800">
                  <a:solidFill>
                    <a:srgbClr val="334155"/>
                  </a:solidFill>
                  <a:latin typeface="Arial Black"/>
                  <a:ea typeface="Arial Black"/>
                  <a:cs typeface="Arial Black"/>
                  <a:sym typeface="Arial Black"/>
                </a:defRPr>
              </a:lvl1pPr>
            </a:lstStyle>
            <a:p>
              <a:pPr/>
              <a:r>
                <a:t>  ❖ Predefined Pointers • Details / Links of the reference and research work</a:t>
              </a:r>
            </a:p>
          </p:txBody>
        </p:sp>
      </p:grpSp>
      <p:grpSp>
        <p:nvGrpSpPr>
          <p:cNvPr id="278" name="Rounded Rectangle 2097160"/>
          <p:cNvGrpSpPr/>
          <p:nvPr/>
        </p:nvGrpSpPr>
        <p:grpSpPr>
          <a:xfrm>
            <a:off x="62670" y="882162"/>
            <a:ext cx="11824952" cy="358618"/>
            <a:chOff x="0" y="0"/>
            <a:chExt cx="11824950" cy="358617"/>
          </a:xfrm>
        </p:grpSpPr>
        <p:sp>
          <p:nvSpPr>
            <p:cNvPr id="276" name="Rounded Rectangle"/>
            <p:cNvSpPr/>
            <p:nvPr/>
          </p:nvSpPr>
          <p:spPr>
            <a:xfrm>
              <a:off x="0" y="0"/>
              <a:ext cx="11824951" cy="358618"/>
            </a:xfrm>
            <a:prstGeom prst="roundRect">
              <a:avLst>
                <a:gd name="adj" fmla="val 16667"/>
              </a:avLst>
            </a:prstGeom>
            <a:solidFill>
              <a:srgbClr val="1E293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7" name="RESEARCH-TO-PROTOTYPE PIPELINE: Problem Identification ➔ Scientific Research ➔ Climate Features ➔ ML Model ➔ Probabilistic Validation ➔ Working Prototype"/>
            <p:cNvSpPr txBox="1"/>
            <p:nvPr/>
          </p:nvSpPr>
          <p:spPr>
            <a:xfrm>
              <a:off x="64692" y="65535"/>
              <a:ext cx="11695567" cy="2275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800">
                  <a:solidFill>
                    <a:srgbClr val="E0F2FE"/>
                  </a:solidFill>
                </a:defRPr>
              </a:pPr>
              <a:r>
                <a:t>RESEARCH-TO-PROTOTYPE PIPELINE: Problem Identification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</a:t>
              </a:r>
              <a:r>
                <a:t>Scientific Research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</a:t>
              </a:r>
              <a:r>
                <a:t>Climate Features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</a:t>
              </a:r>
              <a:r>
                <a:t>ML Model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</a:t>
              </a:r>
              <a:r>
                <a:t>Probabilistic Validation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➔ </a:t>
              </a:r>
              <a:r>
                <a:t>Working Prototype</a:t>
              </a:r>
            </a:p>
          </p:txBody>
        </p:sp>
      </p:grpSp>
      <p:grpSp>
        <p:nvGrpSpPr>
          <p:cNvPr id="281" name="Rounded Rectangle 2097161"/>
          <p:cNvGrpSpPr/>
          <p:nvPr/>
        </p:nvGrpSpPr>
        <p:grpSpPr>
          <a:xfrm>
            <a:off x="80236" y="1298884"/>
            <a:ext cx="3246233" cy="2988483"/>
            <a:chOff x="0" y="0"/>
            <a:chExt cx="3246232" cy="2988482"/>
          </a:xfrm>
        </p:grpSpPr>
        <p:sp>
          <p:nvSpPr>
            <p:cNvPr id="279" name="Rounded Rectangle"/>
            <p:cNvSpPr/>
            <p:nvPr/>
          </p:nvSpPr>
          <p:spPr>
            <a:xfrm>
              <a:off x="0" y="0"/>
              <a:ext cx="3246233" cy="2988483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 w="1524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3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0" name="MONSOON &amp; METEOROLOGICAL RESEARCH:…"/>
            <p:cNvSpPr txBox="1"/>
            <p:nvPr/>
          </p:nvSpPr>
          <p:spPr>
            <a:xfrm>
              <a:off x="27951" y="54213"/>
              <a:ext cx="3190330" cy="26860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000">
                  <a:solidFill>
                    <a:srgbClr val="1D4ED8"/>
                  </a:solidFill>
                </a:defRPr>
              </a:pPr>
              <a:r>
                <a:t>MONSOON &amp; METEOROLOGICAL RESEARCH:</a:t>
              </a:r>
            </a:p>
            <a:p>
              <a:pPr>
                <a:spcBef>
                  <a:spcPts val="300"/>
                </a:spcBef>
                <a:defRPr b="1" sz="1000">
                  <a:solidFill>
                    <a:srgbClr val="0F172A"/>
                  </a:solidFill>
                </a:defRPr>
              </a:pPr>
              <a:r>
                <a:t>• India Meteorological Department (IMD): </a:t>
              </a:r>
              <a:r>
                <a:rPr b="0">
                  <a:solidFill>
                    <a:srgbClr val="334155"/>
                  </a:solidFill>
                </a:rPr>
                <a:t>Operational criteria for Southwest Monsoon onset declaration over Kerala, S2S extended range protocols, and agro-met advisories. [mausam.imd.gov.in]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000">
                  <a:solidFill>
                    <a:srgbClr val="0F172A"/>
                  </a:solidFill>
                </a:defRPr>
              </a:pPr>
              <a:r>
                <a:t>• Ministry of Earth Sciences (MoES) &amp; NCMRWF: </a:t>
              </a:r>
              <a:r>
                <a:rPr b="0">
                  <a:solidFill>
                    <a:srgbClr val="334155"/>
                  </a:solidFill>
                </a:rPr>
                <a:t>National Centre for Medium Range Weather Forecasting Extended Range Prediction System (ERPS) reanalysis and model documentation. [ncmrwf.gov.in]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000">
                  <a:solidFill>
                    <a:srgbClr val="0F172A"/>
                  </a:solidFill>
                </a:defRPr>
              </a:pPr>
              <a:r>
                <a:t>• NOAA Climate Prediction Center (CPC): </a:t>
              </a:r>
              <a:r>
                <a:rPr b="0">
                  <a:solidFill>
                    <a:srgbClr val="334155"/>
                  </a:solidFill>
                </a:rPr>
                <a:t>Oceanic Niño Index (ONI) 3-month running mean SST anomalies in Niño 3.4 region (Real external connector). [cpc.ncep.noaa.gov]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300"/>
                </a:spcBef>
                <a:defRPr b="1" sz="1000">
                  <a:solidFill>
                    <a:srgbClr val="0F172A"/>
                  </a:solidFill>
                </a:defRPr>
              </a:pPr>
              <a:r>
                <a:t>• Australian Bureau of Meteorology (BOM): </a:t>
              </a:r>
              <a:r>
                <a:rPr b="0">
                  <a:solidFill>
                    <a:srgbClr val="334155"/>
                  </a:solidFill>
                </a:rPr>
                <a:t>Indian Ocean Dipole (DMI) and Wheeler-Hendon Real-time Multivariate MJO (RMM1/RMM2) indices. [bom.gov.au/climate]</a:t>
              </a:r>
            </a:p>
          </p:txBody>
        </p:sp>
      </p:grpSp>
      <p:grpSp>
        <p:nvGrpSpPr>
          <p:cNvPr id="284" name="Rounded Rectangle 2097164"/>
          <p:cNvGrpSpPr/>
          <p:nvPr/>
        </p:nvGrpSpPr>
        <p:grpSpPr>
          <a:xfrm>
            <a:off x="65526" y="4412229"/>
            <a:ext cx="3970335" cy="1817671"/>
            <a:chOff x="0" y="0"/>
            <a:chExt cx="3970334" cy="1817669"/>
          </a:xfrm>
        </p:grpSpPr>
        <p:sp>
          <p:nvSpPr>
            <p:cNvPr id="282" name="Rounded Rectangle"/>
            <p:cNvSpPr/>
            <p:nvPr/>
          </p:nvSpPr>
          <p:spPr>
            <a:xfrm>
              <a:off x="0" y="0"/>
              <a:ext cx="3970335" cy="1817670"/>
            </a:xfrm>
            <a:prstGeom prst="roundRect">
              <a:avLst>
                <a:gd name="adj" fmla="val 10234"/>
              </a:avLst>
            </a:prstGeom>
            <a:solidFill>
              <a:srgbClr val="FFFBEB"/>
            </a:solidFill>
            <a:ln w="15240" cap="flat">
              <a:solidFill>
                <a:srgbClr val="FCD34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1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3" name="SCIENTIFIC INTEGRITY, PROTOTYPE BOUNDARIES &amp; ETHICAL DISCLOSURES:…"/>
            <p:cNvSpPr txBox="1"/>
            <p:nvPr/>
          </p:nvSpPr>
          <p:spPr>
            <a:xfrm>
              <a:off x="124725" y="63661"/>
              <a:ext cx="3720885" cy="16903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800">
                  <a:solidFill>
                    <a:srgbClr val="D97706"/>
                  </a:solidFill>
                </a:defRPr>
              </a:pPr>
              <a:r>
                <a:t>SCIENTIFIC INTEGRITY, PROTOTYPE BOUNDARIES &amp; ETHICAL DISCLOSURES:</a:t>
              </a:r>
            </a:p>
            <a:p>
              <a:pPr algn="ctr">
                <a:defRPr b="1" sz="800">
                  <a:solidFill>
                    <a:srgbClr val="D97706"/>
                  </a:solidFill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b="1" sz="700">
                  <a:solidFill>
                    <a:srgbClr val="0F172A"/>
                  </a:solidFill>
                </a:defRPr>
              </a:pPr>
              <a:r>
                <a:t>• NCMRWF Connectivity Disclosure: </a:t>
              </a:r>
              <a:r>
                <a:rPr b="0">
                  <a:solidFill>
                    <a:srgbClr val="334155"/>
                  </a:solidFill>
                </a:rPr>
                <a:t>NCMRWF upper-air variables (850 hPa wind, satellite OLR) are currently represented via calibrated climatological benchmark fallbacks; live supercomputing integration is an MoES-authorized post-hackathon deployment step.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b="1" sz="700">
                  <a:solidFill>
                    <a:srgbClr val="0F172A"/>
                  </a:solidFill>
                </a:defRPr>
              </a:pPr>
              <a:r>
                <a:t>• IMD Onset Advisory Limitation: </a:t>
              </a:r>
              <a:r>
                <a:rPr b="0">
                  <a:solidFill>
                    <a:srgbClr val="334155"/>
                  </a:solidFill>
                </a:rPr>
                <a:t>IMD-referenced monsoon onset criteria adapted within the VarshaSetu hyperlocal forecasting framework; this dashboard does not issue an official statutory IMD onset declaration.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b="1" sz="700">
                  <a:solidFill>
                    <a:srgbClr val="0F172A"/>
                  </a:solidFill>
                </a:defRPr>
              </a:pPr>
              <a:r>
                <a:t>• Rural Messaging Sandbox: </a:t>
              </a:r>
              <a:r>
                <a:rPr b="0">
                  <a:solidFill>
                    <a:srgbClr val="334155"/>
                  </a:solidFill>
                </a:rPr>
                <a:t>SMS and WhatsApp delivery workflows are demonstrated through a sandboxed simulation gateway without live commercial cellular telecom charges.</a:t>
              </a:r>
              <a:endParaRPr>
                <a:solidFill>
                  <a:srgbClr val="FFFFFF"/>
                </a:solidFill>
              </a:endParaRPr>
            </a:p>
            <a:p>
              <a:pPr>
                <a:spcBef>
                  <a:spcPts val="100"/>
                </a:spcBef>
                <a:defRPr b="1" sz="700">
                  <a:solidFill>
                    <a:srgbClr val="0F172A"/>
                  </a:solidFill>
                </a:defRPr>
              </a:pPr>
              <a:r>
                <a:t>• Cartographic Boundaries: </a:t>
              </a:r>
              <a:r>
                <a:rPr b="0">
                  <a:solidFill>
                    <a:srgbClr val="334155"/>
                  </a:solidFill>
                </a:rPr>
                <a:t>Demonstration village polygons and isochrones are approximate visualization bounding-boxes, not official Survey of India administrative cadastral boundaries</a:t>
              </a:r>
            </a:p>
          </p:txBody>
        </p:sp>
      </p:grpSp>
      <p:sp>
        <p:nvSpPr>
          <p:cNvPr id="285" name="Rounded Rectangle 2097159"/>
          <p:cNvSpPr/>
          <p:nvPr/>
        </p:nvSpPr>
        <p:spPr>
          <a:xfrm>
            <a:off x="8221335" y="4412229"/>
            <a:ext cx="3674618" cy="1817671"/>
          </a:xfrm>
          <a:prstGeom prst="roundRect">
            <a:avLst>
              <a:gd name="adj" fmla="val 3727"/>
            </a:avLst>
          </a:prstGeom>
          <a:solidFill>
            <a:srgbClr val="EEF2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Rounded Rectangle 2097165"/>
          <p:cNvSpPr/>
          <p:nvPr/>
        </p:nvSpPr>
        <p:spPr>
          <a:xfrm>
            <a:off x="4241234" y="4412229"/>
            <a:ext cx="3709532" cy="1817671"/>
          </a:xfrm>
          <a:prstGeom prst="roundRect">
            <a:avLst>
              <a:gd name="adj" fmla="val 5206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b="1" sz="900">
                <a:solidFill>
                  <a:srgbClr val="10A34A"/>
                </a:solidFill>
              </a:defRPr>
            </a:pPr>
          </a:p>
        </p:txBody>
      </p:sp>
      <p:sp>
        <p:nvSpPr>
          <p:cNvPr id="287" name="Rounded Rectangle 2097161"/>
          <p:cNvSpPr/>
          <p:nvPr/>
        </p:nvSpPr>
        <p:spPr>
          <a:xfrm>
            <a:off x="3423723" y="1298884"/>
            <a:ext cx="3246233" cy="2988483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spcBef>
                <a:spcPts val="3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AGRICULTURE &amp; SATELLITE DATA SOURCES:…"/>
          <p:cNvSpPr txBox="1"/>
          <p:nvPr/>
        </p:nvSpPr>
        <p:spPr>
          <a:xfrm>
            <a:off x="3657331" y="1507754"/>
            <a:ext cx="2779017" cy="2654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000">
                <a:solidFill>
                  <a:srgbClr val="10A34A"/>
                </a:solidFill>
              </a:defRPr>
            </a:pPr>
            <a:r>
              <a:t>AGRICULTURE &amp; SATELLITE DATA SOURCES:</a:t>
            </a: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• ICAR - CRIDA Agro-Met Protocols: </a:t>
            </a:r>
            <a:r>
              <a:rPr b="0">
                <a:solidFill>
                  <a:srgbClr val="334155"/>
                </a:solidFill>
              </a:rPr>
              <a:t>Central Research Institute for Dryland Agriculture technical contingency bulletins, moisture saturation gates, and cultivar selection protocols for rainfed Kharif crops. [crida.in]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• NASA POWER Agro-Climatology Project: </a:t>
            </a:r>
            <a:r>
              <a:rPr b="0">
                <a:solidFill>
                  <a:srgbClr val="334155"/>
                </a:solidFill>
              </a:rPr>
              <a:t>Prediction of Worldwide Energy Resources surface agro-climatology data access for solar radiation, relative humidity, precipitation, and surface temperature. [power.larc.nasa.gov]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• Tenali Agricultural Catchment Records: </a:t>
            </a:r>
            <a:r>
              <a:rPr b="0">
                <a:solidFill>
                  <a:srgbClr val="334155"/>
                </a:solidFill>
              </a:rPr>
              <a:t>4,018 daily observed weather records (2015–2025) utilized for chronological out-of-sample model training and evaluation.</a:t>
            </a:r>
          </a:p>
        </p:txBody>
      </p:sp>
      <p:sp>
        <p:nvSpPr>
          <p:cNvPr id="289" name="Rounded Rectangle 2097161"/>
          <p:cNvSpPr/>
          <p:nvPr/>
        </p:nvSpPr>
        <p:spPr>
          <a:xfrm>
            <a:off x="6767210" y="1298884"/>
            <a:ext cx="3246233" cy="2988483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spcBef>
                <a:spcPts val="3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EVALUATION STANDARDS &amp; ACCESSIBILITY:…"/>
          <p:cNvSpPr txBox="1"/>
          <p:nvPr/>
        </p:nvSpPr>
        <p:spPr>
          <a:xfrm>
            <a:off x="6854966" y="1484729"/>
            <a:ext cx="3070721" cy="2158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EVALUATION STANDARDS &amp; ACCESSIBILITY:</a:t>
            </a: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• WMO S2S Prediction Project: </a:t>
            </a:r>
            <a:r>
              <a:rPr b="0">
                <a:solidFill>
                  <a:srgbClr val="334155"/>
                </a:solidFill>
              </a:rPr>
              <a:t>World Meteorological Organization Subseasonal-to-Seasonal prediction research, Brier Skill Score standards, and probabilistic verification frameworks. [s2sprediction.net]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• Probabilistic Forecast Scoring: </a:t>
            </a:r>
            <a:r>
              <a:rPr b="0">
                <a:solidFill>
                  <a:srgbClr val="334155"/>
                </a:solidFill>
              </a:rPr>
              <a:t>Brier Score (BS), Brier Skill Score (BSS), and ROC-AUC verification standards for calibrated binary and multi-class weather probability assessment.</a:t>
            </a:r>
            <a:endParaRPr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• W3C Web Speech &amp; Telecom Standards: </a:t>
            </a:r>
            <a:r>
              <a:rPr b="0">
                <a:solidFill>
                  <a:srgbClr val="334155"/>
                </a:solidFill>
              </a:rPr>
              <a:t>SpeechSynthesis API BCP-47 localized voice standards &amp; TRAI DLT rural messaging template specifications.</a:t>
            </a:r>
          </a:p>
        </p:txBody>
      </p:sp>
      <p:sp>
        <p:nvSpPr>
          <p:cNvPr id="291" name="Reference Links:   1.https://nwp.ncmrwf.gov.in/…"/>
          <p:cNvSpPr txBox="1"/>
          <p:nvPr/>
        </p:nvSpPr>
        <p:spPr>
          <a:xfrm>
            <a:off x="4362088" y="4428940"/>
            <a:ext cx="3467824" cy="218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800">
                <a:solidFill>
                  <a:srgbClr val="334155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Reference Links:   1.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https://nwp.ncmrwf.gov.in/</a:t>
            </a:r>
          </a:p>
          <a:p>
            <a:pPr>
              <a:defRPr sz="800">
                <a:solidFill>
                  <a:srgbClr val="334155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>
              <a:defRPr sz="800">
                <a:solidFill>
                  <a:srgbClr val="334155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2.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https://mausam.imd.gov.in/responsive/monsooninformation_onset.php?utm_source</a:t>
            </a:r>
          </a:p>
          <a:p>
            <a:pPr>
              <a:defRPr sz="800">
                <a:solidFill>
                  <a:srgbClr val="334155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>
              <a:defRPr sz="800">
                <a:solidFill>
                  <a:srgbClr val="334155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3.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rPr>
              <a:t>https://www.cpc.ncep.noaa.gov/products/analysis_monitoring/enso_advisory/?utm_source</a:t>
            </a:r>
          </a:p>
          <a:p>
            <a:pPr>
              <a:defRPr sz="800">
                <a:solidFill>
                  <a:srgbClr val="334155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>
              <a:defRPr sz="800">
                <a:solidFill>
                  <a:srgbClr val="334155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4.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 invalidUrl="" action="" tgtFrame="" tooltip="" history="1" highlightClick="0" endSnd="0"/>
              </a:rPr>
              <a:t>https://www.bom.gov.au/climate/iod/?utm_source</a:t>
            </a:r>
          </a:p>
          <a:p>
            <a:pPr>
              <a:defRPr sz="800">
                <a:solidFill>
                  <a:srgbClr val="334155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>
              <a:defRPr sz="800">
                <a:solidFill>
                  <a:srgbClr val="334155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5.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 invalidUrl="" action="" tgtFrame="" tooltip="" history="1" highlightClick="0" endSnd="0"/>
              </a:rPr>
              <a:t>https://www.cpc.ncep.noaa.gov/products/precip/CWlink/MJO/mjo.shtml?utm_source</a:t>
            </a:r>
          </a:p>
          <a:p>
            <a:pPr>
              <a:defRPr sz="800">
                <a:solidFill>
                  <a:srgbClr val="334155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>
              <a:defRPr sz="800">
                <a:solidFill>
                  <a:srgbClr val="334155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</p:txBody>
      </p:sp>
      <p:sp>
        <p:nvSpPr>
          <p:cNvPr id="292" name="Rounded Rectangle 2097157"/>
          <p:cNvSpPr/>
          <p:nvPr/>
        </p:nvSpPr>
        <p:spPr>
          <a:xfrm>
            <a:off x="10110697" y="1302597"/>
            <a:ext cx="1646991" cy="2984501"/>
          </a:xfrm>
          <a:prstGeom prst="roundRect">
            <a:avLst>
              <a:gd name="adj" fmla="val 8751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