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864" y="-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8/28/2026</a:t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3237874" y="648615"/>
            <a:ext cx="6542212" cy="790442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2743199" y="0"/>
            <a:ext cx="7552185" cy="998065"/>
          </a:xfrm>
        </p:spPr>
        <p:txBody>
          <a:bodyPr/>
          <a:p>
            <a:r>
              <a:rPr b="1" dirty="0" sz="3200" lang="en-US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b="1" dirty="0" sz="32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b="1" dirty="0" sz="3200" lang="en-IN">
              <a:solidFill>
                <a:srgbClr val="7030A0"/>
              </a:solidFill>
              <a:latin typeface="Garamond" panose="02020404030301010803" pitchFamily="18" charset="0"/>
            </a:endParaRPr>
          </a:p>
        </p:txBody>
      </p:sp>
      <p:pic>
        <p:nvPicPr>
          <p:cNvPr id="2097153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780086" y="-64272"/>
            <a:ext cx="2249850" cy="1062337"/>
          </a:xfrm>
          <a:prstGeom prst="rect"/>
        </p:spPr>
      </p:pic>
      <p:sp>
        <p:nvSpPr>
          <p:cNvPr id="2097154" name="Rounded Rectangle 2097153"/>
          <p:cNvSpPr/>
          <p:nvPr/>
        </p:nvSpPr>
        <p:spPr>
          <a:xfrm>
            <a:off x="457200" y="1508760"/>
            <a:ext cx="6126480" cy="1143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100">
                <a:solidFill>
                  <a:srgbClr val="1D4ED8"/>
                </a:solidFill>
              </a:rPr>
              <a:t>VARSHASETU
</a:t>
            </a:r>
          </a:p>
          <a:p>
            <a:r>
              <a:rPr b="1" sz="950">
                <a:solidFill>
                  <a:srgbClr val="0F172A"/>
                </a:solidFill>
              </a:rPr>
              <a:t>Hyperlocal Monsoon Onset, Break &amp; Agricultural Advisory System
</a:t>
            </a:r>
          </a:p>
          <a:p>
            <a:r>
              <a:rPr i="1" b="1" sz="950">
                <a:solidFill>
                  <a:srgbClr val="0284C7"/>
                </a:solidFill>
              </a:rPr>
              <a:t>“Bridging Climate Intelligence with Every Farmer”</a:t>
            </a:r>
          </a:p>
        </p:txBody>
      </p:sp>
      <p:sp>
        <p:nvSpPr>
          <p:cNvPr id="2097155" name="Rounded Rectangle 2097154"/>
          <p:cNvSpPr/>
          <p:nvPr/>
        </p:nvSpPr>
        <p:spPr>
          <a:xfrm>
            <a:off x="457200" y="2724912"/>
            <a:ext cx="6126480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Problem Statement ID: </a:t>
            </a:r>
            <a:r>
              <a:rPr b="1" sz="850">
                <a:solidFill>
                  <a:srgbClr val="1D4ED8"/>
                </a:solidFill>
              </a:rPr>
              <a:t>SIH26086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Problem Title: </a:t>
            </a:r>
            <a:r>
              <a:rPr b="1" sz="850">
                <a:solidFill>
                  <a:srgbClr val="0F172A"/>
                </a:solidFill>
              </a:rPr>
              <a:t>Hyperlocal Monsoon Onset &amp; Break Prediction System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Spatial Resolution: </a:t>
            </a:r>
            <a:r>
              <a:rPr b="1" sz="850">
                <a:solidFill>
                  <a:srgbClr val="0284C7"/>
                </a:solidFill>
              </a:rPr>
              <a:t>Block / Village Scale (5–10 km)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Ministry / Org: </a:t>
            </a:r>
            <a:r>
              <a:rPr b="1" sz="850">
                <a:solidFill>
                  <a:srgbClr val="0F172A"/>
                </a:solidFill>
              </a:rPr>
              <a:t>Ministry of Earth Sciences (MoES) | NCMRWF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Theme &amp; Category: </a:t>
            </a:r>
            <a:r>
              <a:rPr b="0" sz="850">
                <a:solidFill>
                  <a:srgbClr val="334155"/>
                </a:solidFill>
              </a:rPr>
              <a:t>Agriculture, FoodTech &amp; Rural Development | Software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Team ID &amp; Name: </a:t>
            </a:r>
            <a:r>
              <a:rPr b="1" sz="850">
                <a:solidFill>
                  <a:srgbClr val="EA580C"/>
                </a:solidFill>
              </a:rPr>
              <a:t>120087 | TITANS</a:t>
            </a:r>
          </a:p>
          <a:p>
            <a:pPr algn="l">
              <a:spcAft>
                <a:spcPts val="200"/>
              </a:spcAft>
            </a:pPr>
            <a:r>
              <a:rPr b="1" sz="850">
                <a:solidFill>
                  <a:srgbClr val="0F172A"/>
                </a:solidFill>
              </a:rPr>
              <a:t>Institution: </a:t>
            </a:r>
            <a:r>
              <a:rPr b="0" sz="850">
                <a:solidFill>
                  <a:srgbClr val="334155"/>
                </a:solidFill>
              </a:rPr>
              <a:t>MVGR College of Engineering (Autonomous), Vizianagaram, AP</a:t>
            </a:r>
          </a:p>
        </p:txBody>
      </p:sp>
      <p:sp>
        <p:nvSpPr>
          <p:cNvPr id="2097156" name="Rounded Rectangle 2097155"/>
          <p:cNvSpPr/>
          <p:nvPr/>
        </p:nvSpPr>
        <p:spPr>
          <a:xfrm>
            <a:off x="457200" y="4663440"/>
            <a:ext cx="61264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284C7"/>
                </a:solidFill>
              </a:rPr>
              <a:t>DECISION CONTINUUM: </a:t>
            </a:r>
            <a:r>
              <a:rPr b="1" i="1" sz="850">
                <a:solidFill>
                  <a:srgbClr val="1D4ED8"/>
                </a:solidFill>
              </a:rPr>
              <a:t>“From climate signals to field-level decisions.”
</a:t>
            </a:r>
          </a:p>
          <a:p>
            <a:pPr>
              <a:spcAft>
                <a:spcPts val="100"/>
              </a:spcAft>
            </a:pPr>
            <a:r>
              <a:rPr b="1" sz="780">
                <a:solidFill>
                  <a:srgbClr val="1D4ED8"/>
                </a:solidFill>
              </a:rPr>
              <a:t>• 1. Climate Signals: </a:t>
            </a:r>
            <a:r>
              <a:rPr sz="750">
                <a:solidFill>
                  <a:srgbClr val="334155"/>
                </a:solidFill>
              </a:rPr>
              <a:t>ENSO (NOAA CPC) | IOD (DMI) | MJO (RMM)</a:t>
            </a:r>
          </a:p>
          <a:p>
            <a:pPr>
              <a:spcAft>
                <a:spcPts val="100"/>
              </a:spcAft>
            </a:pPr>
            <a:r>
              <a:rPr b="1" sz="780">
                <a:solidFill>
                  <a:srgbClr val="0F172A"/>
                </a:solidFill>
              </a:rPr>
              <a:t>• 2. Regional Weather: </a:t>
            </a:r>
            <a:r>
              <a:rPr sz="750">
                <a:solidFill>
                  <a:srgbClr val="334155"/>
                </a:solidFill>
              </a:rPr>
              <a:t>NASA POWER + Tenali Catchment Daily Data (2015-2025)</a:t>
            </a:r>
          </a:p>
          <a:p>
            <a:pPr>
              <a:spcAft>
                <a:spcPts val="100"/>
              </a:spcAft>
            </a:pPr>
            <a:r>
              <a:rPr b="1" sz="780">
                <a:solidFill>
                  <a:srgbClr val="0284C7"/>
                </a:solidFill>
              </a:rPr>
              <a:t>• 3. AI Forecast: </a:t>
            </a:r>
            <a:r>
              <a:rPr sz="750">
                <a:solidFill>
                  <a:srgbClr val="334155"/>
                </a:solidFill>
              </a:rPr>
              <a:t>7, 14, 21, 30-Day Probabilistic S2S Outlooks</a:t>
            </a:r>
          </a:p>
          <a:p>
            <a:pPr>
              <a:spcAft>
                <a:spcPts val="100"/>
              </a:spcAft>
            </a:pPr>
            <a:r>
              <a:rPr b="1" sz="780">
                <a:solidFill>
                  <a:srgbClr val="D97706"/>
                </a:solidFill>
              </a:rPr>
              <a:t>• 4. Decision Support: </a:t>
            </a:r>
            <a:r>
              <a:rPr sz="750">
                <a:solidFill>
                  <a:srgbClr val="334155"/>
                </a:solidFill>
              </a:rPr>
              <a:t>Onset (MET) | Active Spells | Break Risk (&gt;7d Dry Runs)</a:t>
            </a:r>
          </a:p>
          <a:p>
            <a:pPr>
              <a:spcAft>
                <a:spcPts val="100"/>
              </a:spcAft>
            </a:pPr>
            <a:r>
              <a:rPr b="1" sz="780">
                <a:solidFill>
                  <a:srgbClr val="10A34A"/>
                </a:solidFill>
              </a:rPr>
              <a:t>• 5. Farmer Action: </a:t>
            </a:r>
            <a:r>
              <a:rPr sz="750">
                <a:solidFill>
                  <a:srgbClr val="334155"/>
                </a:solidFill>
              </a:rPr>
              <a:t>ICAR-CRIDA Crop Sowing, Irrigation &amp; Contingency Directives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777240"/>
          </a:xfrm>
        </p:spPr>
        <p:txBody>
          <a:bodyPr/>
          <a:p>
            <a:pPr eaLnBrk="1" hangingPunct="1" algn="l"/>
            <a:r>
              <a:rPr b="1" sz="2000">
                <a:solidFill>
                  <a:srgbClr val="0F172A"/>
                </a:solidFill>
              </a:rPr>
              <a:t>VARSHASETU: Hyperlocal Monsoon Onset, Break &amp; Agricultural Advisory System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  <a:solidFill>
            <a:srgbClr val="FFFFFF"/>
          </a:solidFill>
          <a:ln w="19050">
            <a:solidFill>
              <a:srgbClr val="0B6BB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B6BBA"/>
                </a:solidFill>
              </a:rPr>
              <a:t>TITANS</a:t>
            </a:r>
            <a:endParaRPr dirty="0" lang="en-IN"/>
          </a:p>
        </p:txBody>
      </p:sp>
      <p:pic>
        <p:nvPicPr>
          <p:cNvPr id="2097155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6" name="Rounded Rectangle 2097155"/>
          <p:cNvSpPr/>
          <p:nvPr/>
        </p:nvSpPr>
        <p:spPr>
          <a:xfrm>
            <a:off x="365760" y="932688"/>
            <a:ext cx="1145743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80" b="1">
                <a:solidFill>
                  <a:srgbClr val="334155"/>
                </a:solidFill>
              </a:rPr>
              <a:t>  ❖ Proposed Solution (Describe your Idea/Solution/Prototype)  • Detailed Explanation  • How It Addresses The Problem  • Innovation &amp; Uniqueness</a:t>
            </a:r>
          </a:p>
        </p:txBody>
      </p:sp>
      <p:sp>
        <p:nvSpPr>
          <p:cNvPr id="2097157" name="Rounded Rectangle 2097156"/>
          <p:cNvSpPr/>
          <p:nvPr/>
        </p:nvSpPr>
        <p:spPr>
          <a:xfrm>
            <a:off x="365760" y="1316736"/>
            <a:ext cx="11457432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“From predicting rainfall to translating uncertainty into agricultural decisions.”</a:t>
            </a:r>
          </a:p>
        </p:txBody>
      </p:sp>
      <p:sp>
        <p:nvSpPr>
          <p:cNvPr id="2097158" name="Rounded Rectangle 2097157"/>
          <p:cNvSpPr/>
          <p:nvPr/>
        </p:nvSpPr>
        <p:spPr>
          <a:xfrm>
            <a:off x="365760" y="1719072"/>
            <a:ext cx="5623560" cy="7772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DC2626"/>
                </a:solidFill>
              </a:rPr>
              <a:t>CONVENTIONAL APPROACH:  Forecast → Information
</a:t>
            </a:r>
          </a:p>
          <a:p>
            <a:r>
              <a:rPr sz="750">
                <a:solidFill>
                  <a:srgbClr val="334155"/>
                </a:solidFill>
              </a:rPr>
              <a:t>• Coarse 50–100 km district forecasts mask village micro-climates and localized dry spells.
• Delivers raw millimeter rain predictions; leaves farmers to guess sowing &amp; irrigation timing.</a:t>
            </a:r>
          </a:p>
        </p:txBody>
      </p:sp>
      <p:sp>
        <p:nvSpPr>
          <p:cNvPr id="2097159" name="Rounded Rectangle 2097158"/>
          <p:cNvSpPr/>
          <p:nvPr/>
        </p:nvSpPr>
        <p:spPr>
          <a:xfrm>
            <a:off x="6199632" y="1719072"/>
            <a:ext cx="562356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10A34A"/>
                </a:solidFill>
              </a:rPr>
              <a:t>VARSHASETU APPROACH:  Forecast → Risk → Agricultural Decision → Action
</a:t>
            </a:r>
          </a:p>
          <a:p>
            <a:r>
              <a:rPr sz="750">
                <a:solidFill>
                  <a:srgbClr val="334155"/>
                </a:solidFill>
              </a:rPr>
              <a:t>• Hyperlocal block/village precision (5–10 km) bridging the scale gap with local agro-meteorology.
• Translates 7–30 day S2S probabilities directly into ICAR-CRIDA crop stage directives.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365760" y="2560320"/>
            <a:ext cx="2743200" cy="16916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ONSET OUTLOOK
</a:t>
            </a:r>
          </a:p>
          <a:p>
            <a:r>
              <a:rPr b="1" sz="750">
                <a:solidFill>
                  <a:srgbClr val="0F172A"/>
                </a:solidFill>
              </a:rPr>
              <a:t>Probabilistic Monsoon Onset Assessment
</a:t>
            </a:r>
          </a:p>
          <a:p>
            <a:r>
              <a:rPr sz="720">
                <a:solidFill>
                  <a:srgbClr val="334155"/>
                </a:solidFill>
              </a:rPr>
              <a:t>• Adapts IMD criteria: 2d rain ≥2.5mm, 850 hPa wind ≥7.7 m/s, OLR ≤200 W/m²
• Status: MET / NOT MET with arrival date probability
• Directs optimal sowing preparation window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3264408" y="2560320"/>
            <a:ext cx="2743200" cy="1691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0A34A"/>
                </a:solidFill>
              </a:rPr>
              <a:t>ACTIVE SPELL OUTLOOK
</a:t>
            </a:r>
          </a:p>
          <a:p>
            <a:r>
              <a:rPr b="1" sz="750">
                <a:solidFill>
                  <a:srgbClr val="0F172A"/>
                </a:solidFill>
              </a:rPr>
              <a:t>Intra-Seasonal Active Wet-Spell Outlook
</a:t>
            </a:r>
          </a:p>
          <a:p>
            <a:r>
              <a:rPr sz="720">
                <a:solidFill>
                  <a:srgbClr val="334155"/>
                </a:solidFill>
              </a:rPr>
              <a:t>• Detects sustained wet circulation (&gt;+20% normal rain for ≥5 days)
• Identifies expected duration &amp; soil saturation curves
• Maximizes rainwater harvesting &amp; nursery sowing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6163056" y="2560320"/>
            <a:ext cx="2743200" cy="1691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D97706"/>
                </a:solidFill>
              </a:rPr>
              <a:t>BREAK SPELL OUTLOOK
</a:t>
            </a:r>
          </a:p>
          <a:p>
            <a:r>
              <a:rPr b="1" sz="750">
                <a:solidFill>
                  <a:srgbClr val="0F172A"/>
                </a:solidFill>
              </a:rPr>
              <a:t>Dry-Spell / Severe Break Outlook
</a:t>
            </a:r>
          </a:p>
          <a:p>
            <a:r>
              <a:rPr sz="720">
                <a:solidFill>
                  <a:srgbClr val="334155"/>
                </a:solidFill>
              </a:rPr>
              <a:t>• Predicts prolonged dry runs: 3–5d, 5–7d, and &gt;7d continuous dry spell alerts
• Helps reduce re-sowing risk through break-spell awareness
• Triggers life-saving irrigation &amp; contingent crop alerts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9061704" y="2560320"/>
            <a:ext cx="2743200" cy="16916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DC2626"/>
                </a:solidFill>
              </a:rPr>
              <a:t>HEAVY RAIN RISK
</a:t>
            </a:r>
          </a:p>
          <a:p>
            <a:r>
              <a:rPr b="1" sz="750">
                <a:solidFill>
                  <a:srgbClr val="0F172A"/>
                </a:solidFill>
              </a:rPr>
              <a:t>Extreme Precipitation Warnings (&gt;64.5 mm)
</a:t>
            </a:r>
          </a:p>
          <a:p>
            <a:r>
              <a:rPr sz="720">
                <a:solidFill>
                  <a:srgbClr val="334155"/>
                </a:solidFill>
              </a:rPr>
              <a:t>• Evaluates daily rainfall exceeding 64.5 mm IMD threshold
• Prevents fertilizer leaching and expensive urea top-dressing washout
• Advises field furrow drainage to prevent root rot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365760" y="4315968"/>
            <a:ext cx="11457432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E0F2FE"/>
                </a:solidFill>
              </a:rPr>
              <a:t>DECISION CHAIN: Climate Signals  ➔  Regional Weather  ➔  Probabilistic S2S Forecast  ➔  Hyperlocal Risk  ➔  Crop-Specific Advisory  ➔  Farmer / Officer Action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365760" y="4718304"/>
            <a:ext cx="61264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284C7"/>
                </a:solidFill>
              </a:rPr>
              <a:t>SIX CORE INNOVATION PILLARS (HOW VARSHASETU DIFFERS):
</a:t>
            </a:r>
          </a:p>
          <a:p>
            <a:r>
              <a:rPr sz="730">
                <a:solidFill>
                  <a:srgbClr val="0F172A"/>
                </a:solidFill>
              </a:rPr>
              <a:t>• 1. Hyperlocal Scale: Bridges scale gap between broader 50km models and 5–10km village agricultural decisions.</a:t>
            </a:r>
          </a:p>
          <a:p>
            <a:r>
              <a:rPr sz="730">
                <a:solidFill>
                  <a:srgbClr val="0F172A"/>
                </a:solidFill>
              </a:rPr>
              <a:t>• 2. Planetary Teleconnections: Integrates global ENSO ONI, IOD DMI, and MJO RMM with localized agro-meteorology.</a:t>
            </a:r>
          </a:p>
          <a:p>
            <a:r>
              <a:rPr sz="730">
                <a:solidFill>
                  <a:srgbClr val="0F172A"/>
                </a:solidFill>
              </a:rPr>
              <a:t>• 3. Probabilistic S2S Outlooks: 7, 14, 21, and 30-day forecast windows with calibrated uncertainty bounds.</a:t>
            </a:r>
          </a:p>
          <a:p>
            <a:r>
              <a:rPr sz="730">
                <a:solidFill>
                  <a:srgbClr val="0F172A"/>
                </a:solidFill>
              </a:rPr>
              <a:t>• 4. Operational Decision Layers: Dedicated onset, active, break, and heavy-rain threshold assessments.</a:t>
            </a:r>
          </a:p>
          <a:p>
            <a:r>
              <a:rPr sz="730">
                <a:solidFill>
                  <a:srgbClr val="0F172A"/>
                </a:solidFill>
              </a:rPr>
              <a:t>• 5. Crop-Specific Agronomy: ICAR-CRIDA rules for 6 Kharif crops + automatic contingent short-duration cultivars.</a:t>
            </a:r>
          </a:p>
          <a:p>
            <a:r>
              <a:rPr sz="730">
                <a:solidFill>
                  <a:srgbClr val="0F172A"/>
                </a:solidFill>
              </a:rPr>
              <a:t>• 6. Inclusive Last-Mile Reach: 7 Indian languages, native Urdu RTL layout, and Web Speech audio TTS.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6629400" y="4718304"/>
            <a:ext cx="5193792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10A34A"/>
                </a:solidFill>
              </a:rPr>
              <a:t>WORKING PROTOTYPE EVIDENCE (STATUS GRID):
</a:t>
            </a:r>
            <a:r>
              <a:rPr sz="700">
                <a:solidFill>
                  <a:srgbClr val="64748B"/>
                </a:solidFill>
              </a:rPr>
              <a:t>Dharmasagar Catchment: Onset MET, Active 74%, Break 18% (Helps reduce re-sowing risk)</a:t>
            </a:r>
          </a:p>
        </p:txBody>
      </p:sp>
      <p:pic>
        <p:nvPicPr>
          <p:cNvPr id="2097167" name="Picture 2097166" descr="statu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010912"/>
            <a:ext cx="5010912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777240"/>
          </a:xfrm>
        </p:spPr>
        <p:txBody>
          <a:bodyPr/>
          <a:p>
            <a:pPr eaLnBrk="1" hangingPunct="1" algn="l"/>
            <a:r>
              <a:rPr b="1" sz="2000">
                <a:solidFill>
                  <a:srgbClr val="0F172A"/>
                </a:solidFill>
              </a:rPr>
              <a:t>TECHNICAL APPROACH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  <a:solidFill>
            <a:srgbClr val="FFFFFF"/>
          </a:solidFill>
          <a:ln w="19050">
            <a:solidFill>
              <a:srgbClr val="0B6BB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B6BBA"/>
                </a:solidFill>
              </a:rPr>
              <a:t>TITANS</a:t>
            </a:r>
            <a:endParaRPr dirty="0" lang="en-IN"/>
          </a:p>
        </p:txBody>
      </p:sp>
      <p:pic>
        <p:nvPicPr>
          <p:cNvPr id="2097156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7" name="Rounded Rectangle 2097156"/>
          <p:cNvSpPr/>
          <p:nvPr/>
        </p:nvSpPr>
        <p:spPr>
          <a:xfrm>
            <a:off x="365760" y="932688"/>
            <a:ext cx="1145743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80" b="1">
                <a:solidFill>
                  <a:srgbClr val="334155"/>
                </a:solidFill>
              </a:rPr>
              <a:t>  ❖ Predefined Pointers • Technologies to be used (languages, frameworks, hardware) • Methodology and process for implementation (Flow Charts/Images/ working prototype)</a:t>
            </a:r>
          </a:p>
        </p:txBody>
      </p:sp>
      <p:sp>
        <p:nvSpPr>
          <p:cNvPr id="2097158" name="Rounded Rectangle 2097157"/>
          <p:cNvSpPr/>
          <p:nvPr/>
        </p:nvSpPr>
        <p:spPr>
          <a:xfrm>
            <a:off x="365760" y="1316736"/>
            <a:ext cx="512064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9" name="Rounded Rectangle 2097158"/>
          <p:cNvSpPr/>
          <p:nvPr/>
        </p:nvSpPr>
        <p:spPr>
          <a:xfrm>
            <a:off x="475488" y="1389888"/>
            <a:ext cx="4901183" cy="2926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END-TO-END ARCHITECTURAL &amp; METHODOLOGY PIPELINE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475488" y="1755648"/>
            <a:ext cx="4901183" cy="43891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1D4ED8"/>
                </a:solidFill>
              </a:rPr>
              <a:t>1. GLOBAL TELECONNECTIONS: </a:t>
            </a:r>
            <a:r>
              <a:rPr sz="710">
                <a:solidFill>
                  <a:srgbClr val="334155"/>
                </a:solidFill>
              </a:rPr>
              <a:t>NOAA CPC ONI (real SST connector) | IOD (DMI) &amp; MJO (RMM) benchmarks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475488" y="2258568"/>
            <a:ext cx="4901183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0F172A"/>
                </a:solidFill>
              </a:rPr>
              <a:t>2. REGIONAL AGRO-MET TELEMETRY: </a:t>
            </a:r>
            <a:r>
              <a:rPr sz="710">
                <a:solidFill>
                  <a:srgbClr val="334155"/>
                </a:solidFill>
              </a:rPr>
              <a:t>NASA POWER API + Tenali catchment daily observations (2015–2025; 4,018 rows)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475488" y="2761488"/>
            <a:ext cx="4901183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0F172A"/>
                </a:solidFill>
              </a:rPr>
              <a:t>3. FEATURE ENGINEERING: </a:t>
            </a:r>
            <a:r>
              <a:rPr sz="710">
                <a:solidFill>
                  <a:srgbClr val="334155"/>
                </a:solidFill>
              </a:rPr>
              <a:t>18 input features: Lagged anomalies (7d, 14d, 30d), moisture deficit, thermal gradients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75488" y="3264408"/>
            <a:ext cx="4901183" cy="43891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0284C7"/>
                </a:solidFill>
              </a:rPr>
              <a:t>4. PHYSICS-INFORMED ML ENGINE: </a:t>
            </a:r>
            <a:r>
              <a:rPr sz="710">
                <a:solidFill>
                  <a:srgbClr val="334155"/>
                </a:solidFill>
              </a:rPr>
              <a:t>Random Forest Classifier (break_model_rf_real_candidate.joblib) trained on S2S physics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475488" y="3767328"/>
            <a:ext cx="4901183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D97706"/>
                </a:solidFill>
              </a:rPr>
              <a:t>5. PROBABILISTIC S2S OUTLOOK: </a:t>
            </a:r>
            <a:r>
              <a:rPr sz="710">
                <a:solidFill>
                  <a:srgbClr val="334155"/>
                </a:solidFill>
              </a:rPr>
              <a:t>7 / 14 / 21 / 30-Day Multi-Horizon calibrated probabilistic distributions &amp; spreads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475488" y="4270248"/>
            <a:ext cx="4901183" cy="43891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DC2626"/>
                </a:solidFill>
              </a:rPr>
              <a:t>6. OPERATIONAL DECISION LAYER: </a:t>
            </a:r>
            <a:r>
              <a:rPr sz="710">
                <a:solidFill>
                  <a:srgbClr val="334155"/>
                </a:solidFill>
              </a:rPr>
              <a:t>IMD-adapted Onset (MET) | Active Spells | Break Risk (&gt;7d dry run) | Heavy Rain (&gt;64.5mm)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475488" y="4773168"/>
            <a:ext cx="4901183" cy="43891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10A34A"/>
                </a:solidFill>
              </a:rPr>
              <a:t>7. GEOSPATIAL &amp; ADVISORY ENGINES: </a:t>
            </a:r>
            <a:r>
              <a:rPr sz="710">
                <a:solidFill>
                  <a:srgbClr val="334155"/>
                </a:solidFill>
              </a:rPr>
              <a:t>Leaflet GIS Risk Polygons + ICAR-CRIDA stage rules for 6 Kharif crops &amp; alternatives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475488" y="5276088"/>
            <a:ext cx="4901183" cy="438912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00">
                <a:solidFill>
                  <a:srgbClr val="9333EA"/>
                </a:solidFill>
              </a:rPr>
              <a:t>8. MULTI-CHANNEL RURAL DELIVERY: </a:t>
            </a:r>
            <a:r>
              <a:rPr sz="710">
                <a:solidFill>
                  <a:srgbClr val="334155"/>
                </a:solidFill>
              </a:rPr>
              <a:t>Farmer / Extension Officer workflows | 7 Languages | Web Speech TTS | Simulated SMS/WhatsApp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5669280" y="1316736"/>
            <a:ext cx="615391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69" name="Rounded Rectangle 2097168"/>
          <p:cNvSpPr/>
          <p:nvPr/>
        </p:nvSpPr>
        <p:spPr>
          <a:xfrm>
            <a:off x="5760720" y="1389888"/>
            <a:ext cx="597103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780">
                <a:solidFill>
                  <a:srgbClr val="FFFFFF"/>
                </a:solidFill>
              </a:rPr>
              <a:t>  1. HYPERLOCAL GEOSPATIAL RISK MAP &amp; ISOCHRONES (LEAFLET.JS GIS)</a:t>
            </a:r>
          </a:p>
        </p:txBody>
      </p:sp>
      <p:pic>
        <p:nvPicPr>
          <p:cNvPr id="2097170" name="Picture 2097169" descr="risk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682495"/>
            <a:ext cx="5971032" cy="1664208"/>
          </a:xfrm>
          <a:prstGeom prst="rect">
            <a:avLst/>
          </a:prstGeom>
        </p:spPr>
      </p:pic>
      <p:sp>
        <p:nvSpPr>
          <p:cNvPr id="2097171" name="TextBox 2097170"/>
          <p:cNvSpPr txBox="1"/>
          <p:nvPr/>
        </p:nvSpPr>
        <p:spPr>
          <a:xfrm>
            <a:off x="5779008" y="3364992"/>
            <a:ext cx="59344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i="1">
                <a:solidFill>
                  <a:srgbClr val="64748B"/>
                </a:solidFill>
              </a:rPr>
              <a:t>* Demonstration boundary — not an official administrative boundary. Isochrones &amp; radar are simulated.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5669280" y="3621024"/>
            <a:ext cx="6153912" cy="2267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73" name="Rounded Rectangle 2097172"/>
          <p:cNvSpPr/>
          <p:nvPr/>
        </p:nvSpPr>
        <p:spPr>
          <a:xfrm>
            <a:off x="5760720" y="3694176"/>
            <a:ext cx="5971032" cy="256032"/>
          </a:xfrm>
          <a:prstGeom prst="roundRect">
            <a:avLst/>
          </a:prstGeom>
          <a:solidFill>
            <a:srgbClr val="10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780">
                <a:solidFill>
                  <a:srgbClr val="FFFFFF"/>
                </a:solidFill>
              </a:rPr>
              <a:t>  2. ICAR-CRIDA AGRICULTURAL ADVISORY &amp; CONTINGENCY ENGINE</a:t>
            </a:r>
          </a:p>
        </p:txBody>
      </p:sp>
      <p:pic>
        <p:nvPicPr>
          <p:cNvPr id="2097174" name="Picture 2097173" descr="crop_adviso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986784"/>
            <a:ext cx="5971032" cy="1691640"/>
          </a:xfrm>
          <a:prstGeom prst="rect">
            <a:avLst/>
          </a:prstGeom>
        </p:spPr>
      </p:pic>
      <p:sp>
        <p:nvSpPr>
          <p:cNvPr id="2097175" name="TextBox 2097174"/>
          <p:cNvSpPr txBox="1"/>
          <p:nvPr/>
        </p:nvSpPr>
        <p:spPr>
          <a:xfrm>
            <a:off x="5806440" y="5687568"/>
            <a:ext cx="58795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i="1">
                <a:solidFill>
                  <a:srgbClr val="64748B"/>
                </a:solidFill>
              </a:rPr>
              <a:t>Automatic alternative crop recommendation: Short-duration Telangana Sona RNR 15048 / Kadiri-6.</a:t>
            </a:r>
          </a:p>
        </p:txBody>
      </p:sp>
      <p:sp>
        <p:nvSpPr>
          <p:cNvPr id="2097176" name="Rounded Rectangle 2097175"/>
          <p:cNvSpPr/>
          <p:nvPr/>
        </p:nvSpPr>
        <p:spPr>
          <a:xfrm>
            <a:off x="365760" y="5943600"/>
            <a:ext cx="11457432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19">
                <a:solidFill>
                  <a:srgbClr val="FFFFFF"/>
                </a:solidFill>
              </a:rPr>
              <a:t>TECH STACK: Python 3.14 / Flask 3.1  |  Scikit-Learn 1.6.1 / Joblib  |  Leaflet.js 1.9.4  |  Chart.js 4.4.1  |  SQLite3  |  Web Speech API  |  7-Language i18n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777240"/>
          </a:xfrm>
        </p:spPr>
        <p:txBody>
          <a:bodyPr/>
          <a:p>
            <a:pPr eaLnBrk="1" hangingPunct="1" algn="l"/>
            <a:r>
              <a:rPr b="1" sz="2000">
                <a:solidFill>
                  <a:srgbClr val="0F172A"/>
                </a:solidFill>
              </a:rPr>
              <a:t>FEASIBILITY AND VIABILITY</a:t>
            </a: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  <a:solidFill>
            <a:srgbClr val="FFFFFF"/>
          </a:solidFill>
          <a:ln w="19050">
            <a:solidFill>
              <a:srgbClr val="0B6BB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B6BBA"/>
                </a:solidFill>
              </a:rPr>
              <a:t>TITANS</a:t>
            </a:r>
            <a:endParaRPr dirty="0" lang="en-IN"/>
          </a:p>
        </p:txBody>
      </p:sp>
      <p:pic>
        <p:nvPicPr>
          <p:cNvPr id="2097157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8" name="Rounded Rectangle 2097157"/>
          <p:cNvSpPr/>
          <p:nvPr/>
        </p:nvSpPr>
        <p:spPr>
          <a:xfrm>
            <a:off x="365760" y="932688"/>
            <a:ext cx="1145743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80" b="1">
                <a:solidFill>
                  <a:srgbClr val="334155"/>
                </a:solidFill>
              </a:rPr>
              <a:t>  ❖ Predefined Pointers • Analysis of the feasibility of the idea • Potential challenges and risks • Strategies for overcoming these challenges</a:t>
            </a:r>
          </a:p>
        </p:txBody>
      </p:sp>
      <p:sp>
        <p:nvSpPr>
          <p:cNvPr id="2097159" name="Rounded Rectangle 2097158"/>
          <p:cNvSpPr/>
          <p:nvPr/>
        </p:nvSpPr>
        <p:spPr>
          <a:xfrm>
            <a:off x="365760" y="1316736"/>
            <a:ext cx="274320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0284C7"/>
                </a:solidFill>
              </a:rPr>
              <a:t>+0.158
</a:t>
            </a:r>
          </a:p>
          <a:p>
            <a:r>
              <a:rPr b="1" sz="850">
                <a:solidFill>
                  <a:srgbClr val="0F172A"/>
                </a:solidFill>
              </a:rPr>
              <a:t>Brier Skill Score (BSS)
</a:t>
            </a:r>
          </a:p>
          <a:p>
            <a:r>
              <a:rPr sz="700">
                <a:solidFill>
                  <a:srgbClr val="334155"/>
                </a:solidFill>
              </a:rPr>
              <a:t>Verified skill improvement over 30-year climatology baseline (BS: 0.171 vs 0.203).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3264408" y="1316736"/>
            <a:ext cx="274320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0A34A"/>
                </a:solidFill>
              </a:rPr>
              <a:t>0.756
</a:t>
            </a:r>
          </a:p>
          <a:p>
            <a:r>
              <a:rPr b="1" sz="850">
                <a:solidFill>
                  <a:srgbClr val="0F172A"/>
                </a:solidFill>
              </a:rPr>
              <a:t>ROC-AUC Score
</a:t>
            </a:r>
          </a:p>
          <a:p>
            <a:r>
              <a:rPr sz="700">
                <a:solidFill>
                  <a:srgbClr val="334155"/>
                </a:solidFill>
              </a:rPr>
              <a:t>Strong discriminative capability separating active wet spells from damaging dry break spells (Recall: 0.692).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6163056" y="1316736"/>
            <a:ext cx="274320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D4ED8"/>
                </a:solidFill>
              </a:rPr>
              <a:t>60 / 60
</a:t>
            </a:r>
          </a:p>
          <a:p>
            <a:r>
              <a:rPr b="1" sz="850">
                <a:solidFill>
                  <a:srgbClr val="0F172A"/>
                </a:solidFill>
              </a:rPr>
              <a:t>Backend Tests Passed
</a:t>
            </a:r>
          </a:p>
          <a:p>
            <a:r>
              <a:rPr sz="700">
                <a:solidFill>
                  <a:srgbClr val="334155"/>
                </a:solidFill>
              </a:rPr>
              <a:t>100% Pytest pass rate across API contracts, ML inference, crop rules &amp; i18n integrity.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9061704" y="1316736"/>
            <a:ext cx="274320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EA580C"/>
                </a:solidFill>
              </a:rPr>
              <a:t>42 / 42
</a:t>
            </a:r>
          </a:p>
          <a:p>
            <a:r>
              <a:rPr b="1" sz="850">
                <a:solidFill>
                  <a:srgbClr val="0F172A"/>
                </a:solidFill>
              </a:rPr>
              <a:t>Mobile Audit Passed
</a:t>
            </a:r>
          </a:p>
          <a:p>
            <a:r>
              <a:rPr sz="700">
                <a:solidFill>
                  <a:srgbClr val="334155"/>
                </a:solidFill>
              </a:rPr>
              <a:t>100% responsive pass rate across 6 viewport resolutions (320px–1440px) and all 7 languages.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365760" y="2542032"/>
            <a:ext cx="4389120" cy="3337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284C7"/>
                </a:solidFill>
              </a:rPr>
              <a:t>MODEL VALIDATION &amp; ZERO LEAKAGE POLICY:
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• Chronological Train/Test Split: </a:t>
            </a:r>
            <a:r>
              <a:rPr sz="730">
                <a:solidFill>
                  <a:srgbClr val="334155"/>
                </a:solidFill>
              </a:rPr>
              <a:t>Strict temporal partition without k-fold leakage.
• Train Set: 2015–2022 (2,922 daily observed records)
• Test Set: 2023–2025 (1,096 daily unseen records)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• Zero Temporal Leakage Policy: </a:t>
            </a:r>
            <a:r>
              <a:rPr sz="730">
                <a:solidFill>
                  <a:srgbClr val="334155"/>
                </a:solidFill>
              </a:rPr>
              <a:t>Standard random cross-validation allows future atmospheric states to leak into past predictions. VarshaSetu strictly evaluates on out-of-sample forward horizons.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• Verified Candidate Metrics: </a:t>
            </a:r>
            <a:r>
              <a:rPr sz="730">
                <a:solidFill>
                  <a:srgbClr val="334155"/>
                </a:solidFill>
              </a:rPr>
              <a:t>• Brier Score: 0.171 (vs 0.203 Climatology Baseline)
• ROC-AUC: 0.756 | Precision: 0.621 | Recall: 0.692
• F1-Score: 0.655 for rare damaging break spell events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• Zero Cost Burden on Farmers: </a:t>
            </a:r>
            <a:r>
              <a:rPr sz="730">
                <a:solidFill>
                  <a:srgbClr val="334155"/>
                </a:solidFill>
              </a:rPr>
              <a:t>Lightweight browser execution requiring no high-end devices, app store downloads, or paid farmer subscriptions.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4919472" y="2542032"/>
            <a:ext cx="690372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ENGINEERING FEASIBILITY, TRANSPARENCY &amp; INTEGRATION ROADMAP:
</a:t>
            </a:r>
          </a:p>
          <a:p>
            <a:pPr>
              <a:spcBef>
                <a:spcPts val="500"/>
              </a:spcBef>
            </a:pPr>
            <a:r>
              <a:rPr b="1" sz="830">
                <a:solidFill>
                  <a:srgbClr val="10A34A"/>
                </a:solidFill>
              </a:rPr>
              <a:t>CURRENTLY IMPLEMENTED (Working Prototype):
</a:t>
            </a:r>
          </a:p>
          <a:p>
            <a:r>
              <a:rPr sz="730">
                <a:solidFill>
                  <a:srgbClr val="334155"/>
                </a:solidFill>
              </a:rPr>
              <a:t>✓ Physics-informed ML forecasting (7, 14, 21, 30 days)  |  ✓ Live NOAA CPC ENSO ONI connector
✓ Interactive Leaflet risk mapping (isochrones &amp; radar)  |  ✓ ICAR-CRIDA stage rules for 6 Kharif crops
✓ Contingent short-duration cultivars  |  ✓ 7 Indian languages with native Urdu RTL  |  ✓ Web Speech audio TTS
✓ Dual Farmer &amp; Extension Officer workflows  |  ✓ SQLite transmission audit logging</a:t>
            </a:r>
          </a:p>
          <a:p>
            <a:pPr>
              <a:spcBef>
                <a:spcPts val="500"/>
              </a:spcBef>
            </a:pPr>
            <a:r>
              <a:rPr b="1" sz="830">
                <a:solidFill>
                  <a:srgbClr val="D97706"/>
                </a:solidFill>
              </a:rPr>
              <a:t>CURRENT ENGINEERING LIMITATION (Radical Transparency):
</a:t>
            </a:r>
          </a:p>
          <a:p>
            <a:r>
              <a:rPr sz="730">
                <a:solidFill>
                  <a:srgbClr val="334155"/>
                </a:solidFill>
              </a:rPr>
              <a:t>• Operational NCMRWF ERPS upper-air gridded data socket requires institutional MoES security credentials.
• Current Prototype Solution: Gracefully utilizes statistically calibrated climatological benchmark distributions
  for 850 hPa wind and satellite OLR, transparently disclosed as [CONFIGURED BENCHMARK] in UI.</a:t>
            </a:r>
          </a:p>
          <a:p>
            <a:pPr>
              <a:spcBef>
                <a:spcPts val="500"/>
              </a:spcBef>
            </a:pPr>
            <a:r>
              <a:rPr b="1" sz="830">
                <a:solidFill>
                  <a:srgbClr val="1D4ED8"/>
                </a:solidFill>
              </a:rPr>
              <a:t>FUTURE INTEGRATION ROADMAP (Deployment Readiness):
</a:t>
            </a:r>
          </a:p>
          <a:p>
            <a:r>
              <a:rPr sz="730">
                <a:solidFill>
                  <a:srgbClr val="334155"/>
                </a:solidFill>
              </a:rPr>
              <a:t>• Live NCMRWF Feed Integration: Plug-and-play architecture ready for NCMRWF NEPS 12km ensemble stream.
• Production Telecom Gateway: Sandbox payload generator ready for State portals (e.g. Rythu Bharosa SMS).
• Multi-State Rollout: Pluggable ICAR-CRIDA rules support seamless expansion to Maharashtra, MP, and Karnataka.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365760" y="5943600"/>
            <a:ext cx="11457432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DE047"/>
                </a:solidFill>
              </a:rPr>
              <a:t>MATURITY CONTINUUM:  Prototype (Verified)  ➔  Pilot (Target Catchments)  ➔  Operational Integration (MoES/NCMRWF Aligned)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777240"/>
          </a:xfrm>
        </p:spPr>
        <p:txBody>
          <a:bodyPr/>
          <a:p>
            <a:pPr eaLnBrk="1" hangingPunct="1" algn="l"/>
            <a:r>
              <a:rPr b="1" sz="2000">
                <a:solidFill>
                  <a:srgbClr val="0F172A"/>
                </a:solidFill>
              </a:rPr>
              <a:t>IMPACT AND BENEFITS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  <a:solidFill>
            <a:srgbClr val="FFFFFF"/>
          </a:solidFill>
          <a:ln w="19050">
            <a:solidFill>
              <a:srgbClr val="0B6BB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B6BBA"/>
                </a:solidFill>
              </a:rPr>
              <a:t>TITANS</a:t>
            </a:r>
            <a:endParaRPr dirty="0" lang="en-IN"/>
          </a:p>
        </p:txBody>
      </p:sp>
      <p:pic>
        <p:nvPicPr>
          <p:cNvPr id="209715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59" name="Rounded Rectangle 2097158"/>
          <p:cNvSpPr/>
          <p:nvPr/>
        </p:nvSpPr>
        <p:spPr>
          <a:xfrm>
            <a:off x="365760" y="932688"/>
            <a:ext cx="1145743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80" b="1">
                <a:solidFill>
                  <a:srgbClr val="334155"/>
                </a:solidFill>
              </a:rPr>
              <a:t>  ❖ Predefined Pointers • Potential impact on the target audience • Benefits of the solution (social, economic, environmental, etc.)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365760" y="1316736"/>
            <a:ext cx="3675887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0A34A"/>
                </a:solidFill>
              </a:rPr>
              <a:t>FARMERS:  KNOW ➔ DECIDE ➔ ACT
</a:t>
            </a:r>
            <a:r>
              <a:rPr b="1" sz="800">
                <a:solidFill>
                  <a:srgbClr val="0F172A"/>
                </a:solidFill>
              </a:rPr>
              <a:t>Micro-Level Actionable Field Directives
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Onset Uncertainty Awareness: </a:t>
            </a:r>
            <a:r>
              <a:rPr sz="720">
                <a:solidFill>
                  <a:srgbClr val="334155"/>
                </a:solidFill>
              </a:rPr>
              <a:t>Prepares nursery and seedbed with thermodynamic confidence instead of speculative sowing.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Break-Spell Risk Awareness: </a:t>
            </a:r>
            <a:r>
              <a:rPr sz="720">
                <a:solidFill>
                  <a:srgbClr val="334155"/>
                </a:solidFill>
              </a:rPr>
              <a:t>Avoids sowing directly before a 10-day dry spell, helping reduce re-sowing risk.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Heavy-Rain Precautions: </a:t>
            </a:r>
            <a:r>
              <a:rPr sz="720">
                <a:solidFill>
                  <a:srgbClr val="334155"/>
                </a:solidFill>
              </a:rPr>
              <a:t>Protects freshly applied fertilizers from leaching; opens drainage furrows to prevent seedling submergence.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Crop-Specific Sowing Gates: </a:t>
            </a:r>
            <a:r>
              <a:rPr sz="720">
                <a:solidFill>
                  <a:srgbClr val="334155"/>
                </a:solidFill>
              </a:rPr>
              <a:t>Moisture saturation minimums tailored to Paddy (70%), Cotton (60%), Groundnut (50%).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Informed Irrigation Timing: </a:t>
            </a:r>
            <a:r>
              <a:rPr sz="720">
                <a:solidFill>
                  <a:srgbClr val="334155"/>
                </a:solidFill>
              </a:rPr>
              <a:t>Maximizes natural rainfall utilization; schedules life-saving protective irrigation only when necessary.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Contingency Cultivar Choices: </a:t>
            </a:r>
            <a:r>
              <a:rPr sz="720">
                <a:solidFill>
                  <a:srgbClr val="334155"/>
                </a:solidFill>
              </a:rPr>
              <a:t>Suggests short-duration varieties (e.g. Telangana Sona RNR 15048) if onset is delayed &gt;14 days.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Vernacular Voice Access: </a:t>
            </a:r>
            <a:r>
              <a:rPr sz="720">
                <a:solidFill>
                  <a:srgbClr val="334155"/>
                </a:solidFill>
              </a:rPr>
              <a:t>Illiterate and marginal farmers listen to advisories via one-tap Web Speech audio TTS in native dialect.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4251960" y="1316736"/>
            <a:ext cx="3675887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284C7"/>
                </a:solidFill>
              </a:rPr>
              <a:t>EXTENSION OFFICERS:  SEE ➔ PRIORITIZE ➔ COMMUNICATE
</a:t>
            </a:r>
            <a:r>
              <a:rPr b="1" sz="800">
                <a:solidFill>
                  <a:srgbClr val="0F172A"/>
                </a:solidFill>
              </a:rPr>
              <a:t>Mandal-Scale Tactical Oversight &amp; Coordination
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Spatial Risk Visualization: </a:t>
            </a:r>
            <a:r>
              <a:rPr sz="720">
                <a:solidFill>
                  <a:srgbClr val="334155"/>
                </a:solidFill>
              </a:rPr>
              <a:t>Evaluates composite vulnerability clusters (Low to Severe) across 10–20 adjoining Panchayats simultaneously.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Block/Mandal Aggregates: </a:t>
            </a:r>
            <a:r>
              <a:rPr sz="720">
                <a:solidFill>
                  <a:srgbClr val="334155"/>
                </a:solidFill>
              </a:rPr>
              <a:t>Synthesizes regional rainfall anomalies and dry spell duration for proactive administrative intervention.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Standardized Crop Intelligence: </a:t>
            </a:r>
            <a:r>
              <a:rPr sz="720">
                <a:solidFill>
                  <a:srgbClr val="334155"/>
                </a:solidFill>
              </a:rPr>
              <a:t>Harmonizes ICAR-CRIDA agronomic guidance across Krishi Vigyan Kendras (KVKs) and field workers.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Contingency Seed Mobilization: </a:t>
            </a:r>
            <a:r>
              <a:rPr sz="720">
                <a:solidFill>
                  <a:srgbClr val="334155"/>
                </a:solidFill>
              </a:rPr>
              <a:t>Prepositions buffer stocks of drought-resilient alternative seeds ahead of forecast break spells.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Input Supply Synchronization: </a:t>
            </a:r>
            <a:r>
              <a:rPr sz="720">
                <a:solidFill>
                  <a:srgbClr val="334155"/>
                </a:solidFill>
              </a:rPr>
              <a:t>Directs Primary Agricultural Credit Societies (PACS) to schedule subsidized fertilizer release around heavy rain.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Targeted Messaging Workflow: </a:t>
            </a:r>
            <a:r>
              <a:rPr sz="720">
                <a:solidFill>
                  <a:srgbClr val="334155"/>
                </a:solidFill>
              </a:rPr>
              <a:t>Dispatches localized mobile alerts to specific village farming groups via simulated gateway.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Audit Accountability: </a:t>
            </a:r>
            <a:r>
              <a:rPr sz="720">
                <a:solidFill>
                  <a:srgbClr val="334155"/>
                </a:solidFill>
              </a:rPr>
              <a:t>Maintains transparent SQLite records of dispatch history, delivery status, and timestamps.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8138160" y="1316736"/>
            <a:ext cx="3675887" cy="4526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SYSTEM &amp; SOCIETY:  TRIPLE IMPACT PILLARS
</a:t>
            </a:r>
            <a:r>
              <a:rPr b="1" sz="800">
                <a:solidFill>
                  <a:srgbClr val="0F172A"/>
                </a:solidFill>
              </a:rPr>
              <a:t>Social, Economic &amp; Environmental Value
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SOCIAL INCLUSIVITY:
</a:t>
            </a:r>
            <a:r>
              <a:rPr sz="710">
                <a:solidFill>
                  <a:srgbClr val="334155"/>
                </a:solidFill>
              </a:rPr>
              <a:t>• 7 regional languages (English, Telugu, Hindi, Tamil, Kannada, Urdu, Malayalam) with 231 keys each.
• Native Urdu RTL layout transformation and Nastaliq typography.
• Web Speech API TTS delivers audio to illiterate smallholders.
• Mobile-first web access operates on basic smartphone browsers without requiring paid app downloads.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ECONOMIC RESILIENCE:
</a:t>
            </a:r>
            <a:r>
              <a:rPr sz="710">
                <a:solidFill>
                  <a:srgbClr val="334155"/>
                </a:solidFill>
              </a:rPr>
              <a:t>• Supports optimal timing of seed sowing, irrigation cycles, and fertilizer application.
• Helps manage avoidable re-sowing risk through 10–14 day break-spell awareness.
• Promotes low-cost contingency cultivars to salvage late-onset seasons.</a:t>
            </a:r>
          </a:p>
          <a:p>
            <a:pPr>
              <a:spcBef>
                <a:spcPts val="400"/>
              </a:spcBef>
            </a:pPr>
            <a:r>
              <a:rPr b="1" sz="800">
                <a:solidFill>
                  <a:srgbClr val="0F172A"/>
                </a:solidFill>
              </a:rPr>
              <a:t>ENVIRONMENTAL SUSTAINABILITY:
</a:t>
            </a:r>
            <a:r>
              <a:rPr sz="710">
                <a:solidFill>
                  <a:srgbClr val="334155"/>
                </a:solidFill>
              </a:rPr>
              <a:t>• Fertilizer precautions around heavy-rain risk prevent chemical runoff into rural water bodies.
• Informed irrigation timing conserves valuable groundwater reserves.
• Fosters climate-resilient crop selection adapted to S2S rainfall variability.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365760" y="5943600"/>
            <a:ext cx="11457432" cy="34747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EVIDENCE STRIP:  WORKING PROTOTYPE  |  60/60 BACKEND TESTS  |  42/42 MOBILE AUDITS  |  7 LANGUAGES  |  PROBABILISTIC S2S ML  |  HYPERLOCAL GIS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777240"/>
          </a:xfrm>
        </p:spPr>
        <p:txBody>
          <a:bodyPr/>
          <a:p>
            <a:pPr eaLnBrk="1" hangingPunct="1" algn="l"/>
            <a:r>
              <a:rPr b="1" sz="2000">
                <a:solidFill>
                  <a:srgbClr val="0F172A"/>
                </a:solidFill>
              </a:rPr>
              <a:t>RESEARCH  AND REFERENCES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  <a:solidFill>
            <a:srgbClr val="FFFFFF"/>
          </a:solidFill>
          <a:ln w="19050">
            <a:solidFill>
              <a:srgbClr val="0B6BB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sz="1300">
                <a:solidFill>
                  <a:srgbClr val="0B6BBA"/>
                </a:solidFill>
              </a:rPr>
              <a:t>TITANS</a:t>
            </a:r>
            <a:endParaRPr dirty="0" lang="en-IN"/>
          </a:p>
        </p:txBody>
      </p:sp>
      <p:pic>
        <p:nvPicPr>
          <p:cNvPr id="2097159" name="Picture 1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80086" y="1500"/>
            <a:ext cx="2249850" cy="1062337"/>
          </a:xfrm>
          <a:prstGeom prst="rect"/>
        </p:spPr>
      </p:pic>
      <p:sp>
        <p:nvSpPr>
          <p:cNvPr id="2097160" name="Rounded Rectangle 2097159"/>
          <p:cNvSpPr/>
          <p:nvPr/>
        </p:nvSpPr>
        <p:spPr>
          <a:xfrm>
            <a:off x="365760" y="932688"/>
            <a:ext cx="1145743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880" b="1">
                <a:solidFill>
                  <a:srgbClr val="334155"/>
                </a:solidFill>
              </a:rPr>
              <a:t>  ❖ Predefined Pointers • Details / Links of the reference and research work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365760" y="1316736"/>
            <a:ext cx="11457432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E0F2FE"/>
                </a:solidFill>
              </a:rPr>
              <a:t>RESEARCH-TO-PROTOTYPE PIPELINE: Problem Identification ➔ Scientific Research ➔ Climate Features ➔ ML Model ➔ Probabilistic Validation ➔ Working Prototype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365760" y="1737360"/>
            <a:ext cx="3675887" cy="3063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00">
                <a:solidFill>
                  <a:srgbClr val="1D4ED8"/>
                </a:solidFill>
              </a:rPr>
              <a:t>MONSOON &amp; METEOROLOGICAL RESEARCH:
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India Meteorological Department (IMD): </a:t>
            </a:r>
            <a:r>
              <a:rPr sz="710">
                <a:solidFill>
                  <a:srgbClr val="334155"/>
                </a:solidFill>
              </a:rPr>
              <a:t>Operational criteria for Southwest Monsoon onset declaration over Kerala, S2S extended range protocols, and agro-met advisories. [mausam.imd.gov.in]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Ministry of Earth Sciences (MoES) &amp; NCMRWF: </a:t>
            </a:r>
            <a:r>
              <a:rPr sz="710">
                <a:solidFill>
                  <a:srgbClr val="334155"/>
                </a:solidFill>
              </a:rPr>
              <a:t>National Centre for Medium Range Weather Forecasting Extended Range Prediction System (ERPS) reanalysis and model documentation. [ncmrwf.gov.in]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NOAA Climate Prediction Center (CPC): </a:t>
            </a:r>
            <a:r>
              <a:rPr sz="710">
                <a:solidFill>
                  <a:srgbClr val="334155"/>
                </a:solidFill>
              </a:rPr>
              <a:t>Oceanic Niño Index (ONI) 3-month running mean SST anomalies in Niño 3.4 region (Real external connector). [cpc.ncep.noaa.gov]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Australian Bureau of Meteorology (BOM): </a:t>
            </a:r>
            <a:r>
              <a:rPr sz="710">
                <a:solidFill>
                  <a:srgbClr val="334155"/>
                </a:solidFill>
              </a:rPr>
              <a:t>Indian Ocean Dipole (DMI) and Wheeler-Hendon Real-time Multivariate MJO (RMM1/RMM2) indices. [bom.gov.au/climate]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251960" y="1737360"/>
            <a:ext cx="3675887" cy="3063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00">
                <a:solidFill>
                  <a:srgbClr val="10A34A"/>
                </a:solidFill>
              </a:rPr>
              <a:t>AGRICULTURE &amp; SATELLITE DATA SOURCES:
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ICAR - CRIDA Agro-Met Protocols: </a:t>
            </a:r>
            <a:r>
              <a:rPr sz="710">
                <a:solidFill>
                  <a:srgbClr val="334155"/>
                </a:solidFill>
              </a:rPr>
              <a:t>Central Research Institute for Dryland Agriculture technical contingency bulletins, moisture saturation gates, and cultivar selection protocols for rainfed Kharif crops. [crida.in]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NASA POWER Agro-Climatology Project: </a:t>
            </a:r>
            <a:r>
              <a:rPr sz="710">
                <a:solidFill>
                  <a:srgbClr val="334155"/>
                </a:solidFill>
              </a:rPr>
              <a:t>Prediction of Worldwide Energy Resources surface agro-climatology data access for solar radiation, relative humidity, precipitation, and surface temperature. [power.larc.nasa.gov]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Tenali Agricultural Catchment Records: </a:t>
            </a:r>
            <a:r>
              <a:rPr sz="710">
                <a:solidFill>
                  <a:srgbClr val="334155"/>
                </a:solidFill>
              </a:rPr>
              <a:t>4,018 daily observed weather records (2015–2025) utilized for chronological out-of-sample model training and evaluation.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8138160" y="1737360"/>
            <a:ext cx="3675887" cy="3063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00">
                <a:solidFill>
                  <a:srgbClr val="0284C7"/>
                </a:solidFill>
              </a:rPr>
              <a:t>EVALUATION STANDARDS &amp; ACCESSIBILITY:
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WMO S2S Prediction Project: </a:t>
            </a:r>
            <a:r>
              <a:rPr sz="710">
                <a:solidFill>
                  <a:srgbClr val="334155"/>
                </a:solidFill>
              </a:rPr>
              <a:t>World Meteorological Organization Subseasonal-to-Seasonal prediction research, Brier Skill Score standards, and probabilistic verification frameworks. [s2sprediction.net]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Probabilistic Forecast Scoring: </a:t>
            </a:r>
            <a:r>
              <a:rPr sz="710">
                <a:solidFill>
                  <a:srgbClr val="334155"/>
                </a:solidFill>
              </a:rPr>
              <a:t>Brier Score (BS), Brier Skill Score (BSS), and ROC-AUC verification standards for calibrated binary and multi-class weather probability assessment.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0F172A"/>
                </a:solidFill>
              </a:rPr>
              <a:t>• W3C Web Speech &amp; Telecom Standards: </a:t>
            </a:r>
            <a:r>
              <a:rPr sz="710">
                <a:solidFill>
                  <a:srgbClr val="334155"/>
                </a:solidFill>
              </a:rPr>
              <a:t>SpeechSynthesis API BCP-47 localized voice standards &amp; TRAI DLT rural messaging template specifications.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365760" y="4892040"/>
            <a:ext cx="11457432" cy="135331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D97706"/>
                </a:solidFill>
              </a:rPr>
              <a:t>SCIENTIFIC INTEGRITY, PROTOTYPE BOUNDARIES &amp; ETHICAL DISCLOSURES:
</a:t>
            </a:r>
          </a:p>
          <a:p>
            <a:pPr>
              <a:spcBef>
                <a:spcPts val="150"/>
              </a:spcBef>
            </a:pPr>
            <a:r>
              <a:rPr b="1" sz="720">
                <a:solidFill>
                  <a:srgbClr val="0F172A"/>
                </a:solidFill>
              </a:rPr>
              <a:t>• NCMRWF Connectivity Disclosure: </a:t>
            </a:r>
            <a:r>
              <a:rPr sz="700">
                <a:solidFill>
                  <a:srgbClr val="334155"/>
                </a:solidFill>
              </a:rPr>
              <a:t>NCMRWF upper-air variables (850 hPa wind, satellite OLR) are currently represented via calibrated climatological benchmark fallbacks; live supercomputing integration is an MoES-authorized post-hackathon deployment step.</a:t>
            </a:r>
          </a:p>
          <a:p>
            <a:pPr>
              <a:spcBef>
                <a:spcPts val="150"/>
              </a:spcBef>
            </a:pPr>
            <a:r>
              <a:rPr b="1" sz="720">
                <a:solidFill>
                  <a:srgbClr val="0F172A"/>
                </a:solidFill>
              </a:rPr>
              <a:t>• IMD Onset Advisory Limitation: </a:t>
            </a:r>
            <a:r>
              <a:rPr sz="700">
                <a:solidFill>
                  <a:srgbClr val="334155"/>
                </a:solidFill>
              </a:rPr>
              <a:t>IMD-referenced monsoon onset criteria adapted within the VarshaSetu hyperlocal forecasting framework; this dashboard does not issue an official statutory IMD onset declaration.</a:t>
            </a:r>
          </a:p>
          <a:p>
            <a:pPr>
              <a:spcBef>
                <a:spcPts val="150"/>
              </a:spcBef>
            </a:pPr>
            <a:r>
              <a:rPr b="1" sz="720">
                <a:solidFill>
                  <a:srgbClr val="0F172A"/>
                </a:solidFill>
              </a:rPr>
              <a:t>• Rural Messaging Sandbox: </a:t>
            </a:r>
            <a:r>
              <a:rPr sz="700">
                <a:solidFill>
                  <a:srgbClr val="334155"/>
                </a:solidFill>
              </a:rPr>
              <a:t>SMS and WhatsApp delivery workflows are demonstrated through a sandboxed simulation gateway without live commercial cellular telecom charges.</a:t>
            </a:r>
          </a:p>
          <a:p>
            <a:pPr>
              <a:spcBef>
                <a:spcPts val="150"/>
              </a:spcBef>
            </a:pPr>
            <a:r>
              <a:rPr b="1" sz="720">
                <a:solidFill>
                  <a:srgbClr val="0F172A"/>
                </a:solidFill>
              </a:rPr>
              <a:t>• Cartographic Boundaries: </a:t>
            </a:r>
            <a:r>
              <a:rPr sz="700">
                <a:solidFill>
                  <a:srgbClr val="334155"/>
                </a:solidFill>
              </a:rPr>
              <a:t>Demonstration village polygons and isochrones are approximate visualization bounding-boxes, not official Survey of India administrative cadastral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Windows User</cp:lastModifiedBy>
  <dcterms:created xsi:type="dcterms:W3CDTF">2013-12-12T07:46:50Z</dcterms:created>
  <dcterms:modified xsi:type="dcterms:W3CDTF">2026-10-02T18:58:27Z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bd807b000c6a49728b62bd03dc016c86_23</vt:lpwstr>
  </property>
</Properties>
</file>